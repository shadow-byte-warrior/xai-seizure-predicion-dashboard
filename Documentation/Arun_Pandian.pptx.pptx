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Georgia" charset="1" panose="02040502050405020303"/>
      <p:regular r:id="rId30"/>
    </p:embeddedFont>
    <p:embeddedFont>
      <p:font typeface="TT Interphases" charset="1" panose="02000503020000020004"/>
      <p:regular r:id="rId31"/>
    </p:embeddedFont>
    <p:embeddedFont>
      <p:font typeface="TT Interphases Bold" charset="1" panose="02000803060000020004"/>
      <p:regular r:id="rId32"/>
    </p:embeddedFont>
    <p:embeddedFont>
      <p:font typeface="Calibri (MS) Bold" charset="1" panose="020F0702030404030204"/>
      <p:regular r:id="rId33"/>
    </p:embeddedFont>
    <p:embeddedFont>
      <p:font typeface="Calibri (MS)" charset="1" panose="020F0502020204030204"/>
      <p:regular r:id="rId34"/>
    </p:embeddedFont>
    <p:embeddedFont>
      <p:font typeface="Georgia Pro Condensed" charset="1" panose="02040506050405020303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3458" y="3057954"/>
            <a:ext cx="6848856" cy="5995797"/>
            <a:chOff x="0" y="0"/>
            <a:chExt cx="9131808" cy="79943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31808" cy="7994396"/>
            </a:xfrm>
            <a:custGeom>
              <a:avLst/>
              <a:gdLst/>
              <a:ahLst/>
              <a:cxnLst/>
              <a:rect r="r" b="b" t="t" l="l"/>
              <a:pathLst>
                <a:path h="7994396" w="9131808">
                  <a:moveTo>
                    <a:pt x="0" y="0"/>
                  </a:moveTo>
                  <a:lnTo>
                    <a:pt x="9131808" y="0"/>
                  </a:lnTo>
                  <a:lnTo>
                    <a:pt x="9131808" y="7994396"/>
                  </a:lnTo>
                  <a:lnTo>
                    <a:pt x="0" y="7994396"/>
                  </a:lnTo>
                  <a:close/>
                </a:path>
              </a:pathLst>
            </a:custGeom>
            <a:blipFill>
              <a:blip r:embed="rId2"/>
              <a:stretch>
                <a:fillRect l="0" t="-7762" r="0" b="-77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1988" y="2453116"/>
            <a:ext cx="16964025" cy="19050"/>
            <a:chOff x="0" y="0"/>
            <a:chExt cx="226187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509" y="8509"/>
              <a:ext cx="22606001" cy="12700"/>
            </a:xfrm>
            <a:custGeom>
              <a:avLst/>
              <a:gdLst/>
              <a:ahLst/>
              <a:cxnLst/>
              <a:rect r="r" b="b" t="t" l="l"/>
              <a:pathLst>
                <a:path h="12700" w="22606001">
                  <a:moveTo>
                    <a:pt x="0" y="0"/>
                  </a:moveTo>
                  <a:lnTo>
                    <a:pt x="22606001" y="0"/>
                  </a:lnTo>
                  <a:lnTo>
                    <a:pt x="2260600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F4F4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23018" cy="29718"/>
            </a:xfrm>
            <a:custGeom>
              <a:avLst/>
              <a:gdLst/>
              <a:ahLst/>
              <a:cxnLst/>
              <a:rect r="r" b="b" t="t" l="l"/>
              <a:pathLst>
                <a:path h="29718" w="22623018">
                  <a:moveTo>
                    <a:pt x="8509" y="0"/>
                  </a:moveTo>
                  <a:lnTo>
                    <a:pt x="22614510" y="0"/>
                  </a:lnTo>
                  <a:cubicBezTo>
                    <a:pt x="22619208" y="0"/>
                    <a:pt x="22623018" y="3810"/>
                    <a:pt x="22623018" y="8509"/>
                  </a:cubicBezTo>
                  <a:lnTo>
                    <a:pt x="22623018" y="21209"/>
                  </a:lnTo>
                  <a:cubicBezTo>
                    <a:pt x="22623018" y="25908"/>
                    <a:pt x="22619208" y="29718"/>
                    <a:pt x="22614510" y="29718"/>
                  </a:cubicBezTo>
                  <a:lnTo>
                    <a:pt x="8509" y="29718"/>
                  </a:lnTo>
                  <a:cubicBezTo>
                    <a:pt x="3810" y="29591"/>
                    <a:pt x="0" y="25781"/>
                    <a:pt x="0" y="212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1209"/>
                  </a:lnTo>
                  <a:lnTo>
                    <a:pt x="8509" y="21209"/>
                  </a:lnTo>
                  <a:lnTo>
                    <a:pt x="8509" y="12700"/>
                  </a:lnTo>
                  <a:lnTo>
                    <a:pt x="22614510" y="12700"/>
                  </a:lnTo>
                  <a:lnTo>
                    <a:pt x="22614510" y="21209"/>
                  </a:lnTo>
                  <a:lnTo>
                    <a:pt x="22606000" y="21209"/>
                  </a:lnTo>
                  <a:lnTo>
                    <a:pt x="22606000" y="8509"/>
                  </a:lnTo>
                  <a:lnTo>
                    <a:pt x="22614510" y="8509"/>
                  </a:lnTo>
                  <a:lnTo>
                    <a:pt x="22614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740419" y="0"/>
            <a:ext cx="13392245" cy="2321242"/>
            <a:chOff x="0" y="0"/>
            <a:chExt cx="17856327" cy="30949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856327" cy="3094990"/>
            </a:xfrm>
            <a:custGeom>
              <a:avLst/>
              <a:gdLst/>
              <a:ahLst/>
              <a:cxnLst/>
              <a:rect r="r" b="b" t="t" l="l"/>
              <a:pathLst>
                <a:path h="3094990" w="17856327">
                  <a:moveTo>
                    <a:pt x="0" y="0"/>
                  </a:moveTo>
                  <a:lnTo>
                    <a:pt x="17856327" y="0"/>
                  </a:lnTo>
                  <a:lnTo>
                    <a:pt x="17856327" y="3094990"/>
                  </a:lnTo>
                  <a:lnTo>
                    <a:pt x="0" y="3094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" r="0" b="-1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3172254"/>
            <a:ext cx="8623516" cy="193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sz="462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XAI-Based Intelligent Disease Prediction System with Transparent Decision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1988" y="5960593"/>
            <a:ext cx="6886575" cy="227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Project Guide: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KIRUBHANANDHAN CG,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Assistant Professor,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Department of Artificial Intelligence and Data Science,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Easa College of Engineering and Technology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3016" y="1417787"/>
            <a:ext cx="937260" cy="6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7"/>
              </a:lnSpc>
            </a:pPr>
            <a:r>
              <a:rPr lang="en-US" sz="4627" b="true">
                <a:solidFill>
                  <a:srgbClr val="70809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XAI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22541" y="9057199"/>
            <a:ext cx="3334102" cy="62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19"/>
              </a:lnSpc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Arunpandian P</a:t>
            </a:r>
          </a:p>
          <a:p>
            <a:pPr algn="r">
              <a:lnSpc>
                <a:spcPts val="2419"/>
              </a:lnSpc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Reg.no :720522243009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96183" y="8600665"/>
            <a:ext cx="1593409" cy="31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sz="219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Presented by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99483" y="1661032"/>
            <a:ext cx="7188518" cy="7439025"/>
            <a:chOff x="0" y="0"/>
            <a:chExt cx="9584690" cy="991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84690" cy="9918700"/>
            </a:xfrm>
            <a:custGeom>
              <a:avLst/>
              <a:gdLst/>
              <a:ahLst/>
              <a:cxnLst/>
              <a:rect r="r" b="b" t="t" l="l"/>
              <a:pathLst>
                <a:path h="9918700" w="9584690">
                  <a:moveTo>
                    <a:pt x="0" y="0"/>
                  </a:moveTo>
                  <a:lnTo>
                    <a:pt x="9584690" y="0"/>
                  </a:lnTo>
                  <a:lnTo>
                    <a:pt x="9584690" y="9918700"/>
                  </a:lnTo>
                  <a:lnTo>
                    <a:pt x="0" y="991870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1988" y="9615488"/>
            <a:ext cx="5762625" cy="19050"/>
            <a:chOff x="0" y="0"/>
            <a:chExt cx="76835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509" y="8509"/>
              <a:ext cx="7670800" cy="12700"/>
            </a:xfrm>
            <a:custGeom>
              <a:avLst/>
              <a:gdLst/>
              <a:ahLst/>
              <a:cxnLst/>
              <a:rect r="r" b="b" t="t" l="l"/>
              <a:pathLst>
                <a:path h="12700" w="7670800">
                  <a:moveTo>
                    <a:pt x="0" y="0"/>
                  </a:moveTo>
                  <a:lnTo>
                    <a:pt x="7670800" y="0"/>
                  </a:lnTo>
                  <a:lnTo>
                    <a:pt x="767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F4F4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87818" cy="29718"/>
            </a:xfrm>
            <a:custGeom>
              <a:avLst/>
              <a:gdLst/>
              <a:ahLst/>
              <a:cxnLst/>
              <a:rect r="r" b="b" t="t" l="l"/>
              <a:pathLst>
                <a:path h="29718" w="7687818">
                  <a:moveTo>
                    <a:pt x="8509" y="0"/>
                  </a:moveTo>
                  <a:lnTo>
                    <a:pt x="7679309" y="0"/>
                  </a:lnTo>
                  <a:cubicBezTo>
                    <a:pt x="7684008" y="0"/>
                    <a:pt x="7687818" y="3810"/>
                    <a:pt x="7687818" y="8509"/>
                  </a:cubicBezTo>
                  <a:lnTo>
                    <a:pt x="7687818" y="21209"/>
                  </a:lnTo>
                  <a:cubicBezTo>
                    <a:pt x="7687818" y="25908"/>
                    <a:pt x="7684008" y="29718"/>
                    <a:pt x="7679309" y="29718"/>
                  </a:cubicBezTo>
                  <a:lnTo>
                    <a:pt x="8509" y="29718"/>
                  </a:lnTo>
                  <a:cubicBezTo>
                    <a:pt x="3810" y="29591"/>
                    <a:pt x="0" y="25781"/>
                    <a:pt x="0" y="212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1209"/>
                  </a:lnTo>
                  <a:lnTo>
                    <a:pt x="8509" y="21209"/>
                  </a:lnTo>
                  <a:lnTo>
                    <a:pt x="8509" y="12700"/>
                  </a:lnTo>
                  <a:lnTo>
                    <a:pt x="7679309" y="12700"/>
                  </a:lnTo>
                  <a:lnTo>
                    <a:pt x="7679309" y="21209"/>
                  </a:lnTo>
                  <a:lnTo>
                    <a:pt x="7670800" y="21209"/>
                  </a:lnTo>
                  <a:lnTo>
                    <a:pt x="7670800" y="8509"/>
                  </a:lnTo>
                  <a:lnTo>
                    <a:pt x="7679309" y="8509"/>
                  </a:lnTo>
                  <a:lnTo>
                    <a:pt x="7679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913608" y="2056347"/>
            <a:ext cx="8457286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Introduction to XAI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9251" y="4396954"/>
            <a:ext cx="10206502" cy="244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7"/>
              </a:lnSpc>
            </a:pPr>
            <a:r>
              <a:rPr lang="en-US" sz="23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Epilepsy is a serious neurological disorder that requires early detection. </a:t>
            </a:r>
            <a:r>
              <a:rPr lang="en-US" sz="23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Traditional EEG-based diagnosis is time-consuming and depends on experts. AI improves prediction sp</a:t>
            </a:r>
            <a:r>
              <a:rPr lang="en-US" sz="23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eed and accuracy, but many models lack transparency. Explainable AI helps make predictions understandable and trustworthy. </a:t>
            </a:r>
            <a:r>
              <a:rPr lang="en-US" sz="23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Our project combines machine learning with XAI for accurate and interpretable disease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1988" y="9615488"/>
            <a:ext cx="16964025" cy="19050"/>
            <a:chOff x="0" y="0"/>
            <a:chExt cx="22618700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22606001" cy="12700"/>
            </a:xfrm>
            <a:custGeom>
              <a:avLst/>
              <a:gdLst/>
              <a:ahLst/>
              <a:cxnLst/>
              <a:rect r="r" b="b" t="t" l="l"/>
              <a:pathLst>
                <a:path h="12700" w="22606001">
                  <a:moveTo>
                    <a:pt x="0" y="0"/>
                  </a:moveTo>
                  <a:lnTo>
                    <a:pt x="22606001" y="0"/>
                  </a:lnTo>
                  <a:lnTo>
                    <a:pt x="2260600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F4F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23018" cy="29718"/>
            </a:xfrm>
            <a:custGeom>
              <a:avLst/>
              <a:gdLst/>
              <a:ahLst/>
              <a:cxnLst/>
              <a:rect r="r" b="b" t="t" l="l"/>
              <a:pathLst>
                <a:path h="29718" w="22623018">
                  <a:moveTo>
                    <a:pt x="8509" y="0"/>
                  </a:moveTo>
                  <a:lnTo>
                    <a:pt x="22614510" y="0"/>
                  </a:lnTo>
                  <a:cubicBezTo>
                    <a:pt x="22619208" y="0"/>
                    <a:pt x="22623018" y="3810"/>
                    <a:pt x="22623018" y="8509"/>
                  </a:cubicBezTo>
                  <a:lnTo>
                    <a:pt x="22623018" y="21209"/>
                  </a:lnTo>
                  <a:cubicBezTo>
                    <a:pt x="22623018" y="25908"/>
                    <a:pt x="22619208" y="29718"/>
                    <a:pt x="22614510" y="29718"/>
                  </a:cubicBezTo>
                  <a:lnTo>
                    <a:pt x="8509" y="29718"/>
                  </a:lnTo>
                  <a:cubicBezTo>
                    <a:pt x="3810" y="29591"/>
                    <a:pt x="0" y="25781"/>
                    <a:pt x="0" y="212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1209"/>
                  </a:lnTo>
                  <a:lnTo>
                    <a:pt x="8509" y="21209"/>
                  </a:lnTo>
                  <a:lnTo>
                    <a:pt x="8509" y="12700"/>
                  </a:lnTo>
                  <a:lnTo>
                    <a:pt x="22614510" y="12700"/>
                  </a:lnTo>
                  <a:lnTo>
                    <a:pt x="22614510" y="21209"/>
                  </a:lnTo>
                  <a:lnTo>
                    <a:pt x="22606000" y="21209"/>
                  </a:lnTo>
                  <a:lnTo>
                    <a:pt x="22606000" y="8509"/>
                  </a:lnTo>
                  <a:lnTo>
                    <a:pt x="22614510" y="8509"/>
                  </a:lnTo>
                  <a:lnTo>
                    <a:pt x="22614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711908" y="-110830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5" r="0" b="-185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24363" y="3828955"/>
            <a:ext cx="6918561" cy="3353329"/>
            <a:chOff x="0" y="0"/>
            <a:chExt cx="6872926" cy="3331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72925" cy="3331210"/>
            </a:xfrm>
            <a:custGeom>
              <a:avLst/>
              <a:gdLst/>
              <a:ahLst/>
              <a:cxnLst/>
              <a:rect r="r" b="b" t="t" l="l"/>
              <a:pathLst>
                <a:path h="3331210" w="6872925">
                  <a:moveTo>
                    <a:pt x="6720346" y="0"/>
                  </a:moveTo>
                  <a:lnTo>
                    <a:pt x="152579" y="0"/>
                  </a:lnTo>
                  <a:cubicBezTo>
                    <a:pt x="68729" y="0"/>
                    <a:pt x="0" y="62230"/>
                    <a:pt x="0" y="138430"/>
                  </a:cubicBezTo>
                  <a:lnTo>
                    <a:pt x="0" y="3192780"/>
                  </a:lnTo>
                  <a:cubicBezTo>
                    <a:pt x="0" y="3268980"/>
                    <a:pt x="68729" y="3331210"/>
                    <a:pt x="152579" y="3331210"/>
                  </a:cubicBezTo>
                  <a:lnTo>
                    <a:pt x="6720346" y="3331210"/>
                  </a:lnTo>
                  <a:cubicBezTo>
                    <a:pt x="6804196" y="3331210"/>
                    <a:pt x="6872925" y="3268980"/>
                    <a:pt x="6872925" y="3192780"/>
                  </a:cubicBezTo>
                  <a:lnTo>
                    <a:pt x="6872925" y="138430"/>
                  </a:lnTo>
                  <a:cubicBezTo>
                    <a:pt x="6872925" y="62230"/>
                    <a:pt x="6804196" y="0"/>
                    <a:pt x="6720346" y="0"/>
                  </a:cubicBezTo>
                  <a:close/>
                </a:path>
              </a:pathLst>
            </a:custGeom>
            <a:blipFill>
              <a:blip r:embed="rId4"/>
              <a:stretch>
                <a:fillRect l="-356" t="0" r="-35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4724" y="3771805"/>
            <a:ext cx="9508290" cy="411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7"/>
              </a:lnSpc>
            </a:pP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Existi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ng System</a:t>
            </a:r>
          </a:p>
          <a:p>
            <a:pPr algn="just" marL="510015" indent="-255008" lvl="1">
              <a:lnSpc>
                <a:spcPts val="3307"/>
              </a:lnSpc>
              <a:buFont typeface="Arial"/>
              <a:buChar char="•"/>
            </a:pP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urrent AI m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odels give predictions but do not clearly explain their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ci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s.</a:t>
            </a:r>
          </a:p>
          <a:p>
            <a:pPr algn="just" marL="510015" indent="-255008" lvl="1">
              <a:lnSpc>
                <a:spcPts val="3307"/>
              </a:lnSpc>
              <a:buFont typeface="Arial"/>
              <a:buChar char="•"/>
            </a:pP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Most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systems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 complex and 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difficult for doctors to interpret.</a:t>
            </a:r>
          </a:p>
          <a:p>
            <a:pPr algn="just">
              <a:lnSpc>
                <a:spcPts val="3307"/>
              </a:lnSpc>
            </a:pP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Proposed System</a:t>
            </a:r>
          </a:p>
          <a:p>
            <a:pPr algn="just" marL="510015" indent="-255008" lvl="1">
              <a:lnSpc>
                <a:spcPts val="3307"/>
              </a:lnSpc>
              <a:buFont typeface="Arial"/>
              <a:buChar char="•"/>
            </a:pP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Explainable AI to provide clear and transparent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seizure pre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dict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s.</a:t>
            </a:r>
          </a:p>
          <a:p>
            <a:pPr algn="just" marL="510015" indent="-255008" lvl="1">
              <a:lnSpc>
                <a:spcPts val="3307"/>
              </a:lnSpc>
              <a:buFont typeface="Arial"/>
              <a:buChar char="•"/>
            </a:pP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Helps 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doctors und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er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stand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important EEG features behin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ach 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sult</a:t>
            </a:r>
            <a:r>
              <a:rPr lang="en-US" sz="236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  <a:p>
            <a:pPr algn="just" marL="645082" indent="-161271" lvl="3">
              <a:lnSpc>
                <a:spcPts val="330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973073" y="2037126"/>
            <a:ext cx="112014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29792" y="1973108"/>
            <a:ext cx="9843659" cy="5425099"/>
            <a:chOff x="0" y="0"/>
            <a:chExt cx="28530987" cy="15724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0987" cy="15724175"/>
            </a:xfrm>
            <a:custGeom>
              <a:avLst/>
              <a:gdLst/>
              <a:ahLst/>
              <a:cxnLst/>
              <a:rect r="r" b="b" t="t" l="l"/>
              <a:pathLst>
                <a:path h="15724175" w="28530987">
                  <a:moveTo>
                    <a:pt x="0" y="0"/>
                  </a:moveTo>
                  <a:lnTo>
                    <a:pt x="28530987" y="0"/>
                  </a:lnTo>
                  <a:lnTo>
                    <a:pt x="28530987" y="15724175"/>
                  </a:lnTo>
                  <a:lnTo>
                    <a:pt x="0" y="15724175"/>
                  </a:lnTo>
                  <a:close/>
                </a:path>
              </a:pathLst>
            </a:custGeom>
            <a:blipFill>
              <a:blip r:embed="rId2"/>
              <a:stretch>
                <a:fillRect l="0" t="-691" r="0" b="-69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080360" y="1973108"/>
            <a:ext cx="5292346" cy="989715"/>
          </a:xfrm>
          <a:custGeom>
            <a:avLst/>
            <a:gdLst/>
            <a:ahLst/>
            <a:cxnLst/>
            <a:rect r="r" b="b" t="t" l="l"/>
            <a:pathLst>
              <a:path h="989715" w="5292346">
                <a:moveTo>
                  <a:pt x="0" y="0"/>
                </a:moveTo>
                <a:lnTo>
                  <a:pt x="5292346" y="0"/>
                </a:lnTo>
                <a:lnTo>
                  <a:pt x="5292346" y="989715"/>
                </a:lnTo>
                <a:lnTo>
                  <a:pt x="0" y="9897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37" t="0" r="-103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72706" y="1078723"/>
            <a:ext cx="6483397" cy="1788771"/>
          </a:xfrm>
          <a:custGeom>
            <a:avLst/>
            <a:gdLst/>
            <a:ahLst/>
            <a:cxnLst/>
            <a:rect r="r" b="b" t="t" l="l"/>
            <a:pathLst>
              <a:path h="1788771" w="6483397">
                <a:moveTo>
                  <a:pt x="0" y="0"/>
                </a:moveTo>
                <a:lnTo>
                  <a:pt x="6483397" y="0"/>
                </a:lnTo>
                <a:lnTo>
                  <a:pt x="6483397" y="1788771"/>
                </a:lnTo>
                <a:lnTo>
                  <a:pt x="0" y="1788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595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82173" y="1391969"/>
            <a:ext cx="8523654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4554" y="3115449"/>
            <a:ext cx="7895238" cy="516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5136" indent="-197568" lvl="1">
              <a:lnSpc>
                <a:spcPts val="2562"/>
              </a:lnSpc>
              <a:buFont typeface="Arial"/>
              <a:buChar char="•"/>
            </a:pPr>
            <a:r>
              <a:rPr lang="en-US" b="true" sz="183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EEG Data Input</a:t>
            </a:r>
          </a:p>
          <a:p>
            <a:pPr algn="l">
              <a:lnSpc>
                <a:spcPts val="2562"/>
              </a:lnSpc>
            </a:pP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</a:t>
            </a: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Multi-channel EEG signals from CHB-MIT dataset (18 channels, 256 Hz)</a:t>
            </a:r>
          </a:p>
          <a:p>
            <a:pPr algn="l" marL="395136" indent="-197568" lvl="1">
              <a:lnSpc>
                <a:spcPts val="2562"/>
              </a:lnSpc>
              <a:buFont typeface="Arial"/>
              <a:buChar char="•"/>
            </a:pPr>
            <a:r>
              <a:rPr lang="en-US" b="true" sz="183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Signal Preprocessing</a:t>
            </a:r>
          </a:p>
          <a:p>
            <a:pPr algn="l">
              <a:lnSpc>
                <a:spcPts val="2562"/>
              </a:lnSpc>
            </a:pP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 </a:t>
            </a: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Bandpass &amp; notch filtering, artifact removal, window segmentation, seizure labeling</a:t>
            </a:r>
          </a:p>
          <a:p>
            <a:pPr algn="l" marL="395136" indent="-197568" lvl="1">
              <a:lnSpc>
                <a:spcPts val="2562"/>
              </a:lnSpc>
              <a:buFont typeface="Arial"/>
              <a:buChar char="•"/>
            </a:pPr>
            <a:r>
              <a:rPr lang="en-US" b="true" sz="183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Feature Generation</a:t>
            </a:r>
          </a:p>
          <a:p>
            <a:pPr algn="l">
              <a:lnSpc>
                <a:spcPts val="2562"/>
              </a:lnSpc>
            </a:pP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 </a:t>
            </a: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Raw EEG, Spectrogram, Spike Encoding representations</a:t>
            </a:r>
          </a:p>
          <a:p>
            <a:pPr algn="l" marL="395136" indent="-197568" lvl="1">
              <a:lnSpc>
                <a:spcPts val="2562"/>
              </a:lnSpc>
              <a:buFont typeface="Arial"/>
              <a:buChar char="•"/>
            </a:pPr>
            <a:r>
              <a:rPr lang="en-US" b="true" sz="183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Model Layer</a:t>
            </a:r>
          </a:p>
          <a:p>
            <a:pPr algn="l">
              <a:lnSpc>
                <a:spcPts val="2562"/>
              </a:lnSpc>
            </a:pP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</a:t>
            </a: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SCT, GRL, DA-SCT, Federated Learning models</a:t>
            </a:r>
          </a:p>
          <a:p>
            <a:pPr algn="l" marL="395136" indent="-197568" lvl="1">
              <a:lnSpc>
                <a:spcPts val="2562"/>
              </a:lnSpc>
              <a:buFont typeface="Arial"/>
              <a:buChar char="•"/>
            </a:pPr>
            <a:r>
              <a:rPr lang="en-US" b="true" sz="183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Prediction Layer</a:t>
            </a:r>
          </a:p>
          <a:p>
            <a:pPr algn="l">
              <a:lnSpc>
                <a:spcPts val="2562"/>
              </a:lnSpc>
            </a:pP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 </a:t>
            </a: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Seizure / Normal classification with probability score</a:t>
            </a:r>
          </a:p>
          <a:p>
            <a:pPr algn="l" marL="395136" indent="-197568" lvl="1">
              <a:lnSpc>
                <a:spcPts val="2562"/>
              </a:lnSpc>
              <a:buFont typeface="Arial"/>
              <a:buChar char="•"/>
            </a:pP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</a:t>
            </a:r>
            <a:r>
              <a:rPr lang="en-US" b="true" sz="183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xplainable AI (XAI)</a:t>
            </a:r>
          </a:p>
          <a:p>
            <a:pPr algn="l">
              <a:lnSpc>
                <a:spcPts val="2562"/>
              </a:lnSpc>
            </a:pP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 Grad-CAM, SHAP, Attention Maps for interpretability</a:t>
            </a:r>
          </a:p>
          <a:p>
            <a:pPr algn="l" marL="395136" indent="-197568" lvl="1">
              <a:lnSpc>
                <a:spcPts val="2562"/>
              </a:lnSpc>
              <a:buFont typeface="Arial"/>
              <a:buChar char="•"/>
            </a:pPr>
            <a:r>
              <a:rPr lang="en-US" b="true" sz="183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Deployment Layer</a:t>
            </a:r>
          </a:p>
          <a:p>
            <a:pPr algn="l">
              <a:lnSpc>
                <a:spcPts val="2562"/>
              </a:lnSpc>
            </a:pP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  </a:t>
            </a:r>
            <a:r>
              <a:rPr lang="en-US" sz="183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FastAPI API, Streamlit dashboard, Cloud deployment</a:t>
            </a:r>
          </a:p>
          <a:p>
            <a:pPr algn="l">
              <a:lnSpc>
                <a:spcPts val="2562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32643" y="9900534"/>
            <a:ext cx="5762625" cy="19050"/>
            <a:chOff x="0" y="0"/>
            <a:chExt cx="76835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509" y="8509"/>
              <a:ext cx="7670800" cy="12700"/>
            </a:xfrm>
            <a:custGeom>
              <a:avLst/>
              <a:gdLst/>
              <a:ahLst/>
              <a:cxnLst/>
              <a:rect r="r" b="b" t="t" l="l"/>
              <a:pathLst>
                <a:path h="12700" w="7670800">
                  <a:moveTo>
                    <a:pt x="0" y="0"/>
                  </a:moveTo>
                  <a:lnTo>
                    <a:pt x="7670800" y="0"/>
                  </a:lnTo>
                  <a:lnTo>
                    <a:pt x="767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F4F4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87818" cy="29718"/>
            </a:xfrm>
            <a:custGeom>
              <a:avLst/>
              <a:gdLst/>
              <a:ahLst/>
              <a:cxnLst/>
              <a:rect r="r" b="b" t="t" l="l"/>
              <a:pathLst>
                <a:path h="29718" w="7687818">
                  <a:moveTo>
                    <a:pt x="8509" y="0"/>
                  </a:moveTo>
                  <a:lnTo>
                    <a:pt x="7679309" y="0"/>
                  </a:lnTo>
                  <a:cubicBezTo>
                    <a:pt x="7684008" y="0"/>
                    <a:pt x="7687818" y="3810"/>
                    <a:pt x="7687818" y="8509"/>
                  </a:cubicBezTo>
                  <a:lnTo>
                    <a:pt x="7687818" y="21209"/>
                  </a:lnTo>
                  <a:cubicBezTo>
                    <a:pt x="7687818" y="25908"/>
                    <a:pt x="7684008" y="29718"/>
                    <a:pt x="7679309" y="29718"/>
                  </a:cubicBezTo>
                  <a:lnTo>
                    <a:pt x="8509" y="29718"/>
                  </a:lnTo>
                  <a:cubicBezTo>
                    <a:pt x="3810" y="29591"/>
                    <a:pt x="0" y="25781"/>
                    <a:pt x="0" y="212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1209"/>
                  </a:lnTo>
                  <a:lnTo>
                    <a:pt x="8509" y="21209"/>
                  </a:lnTo>
                  <a:lnTo>
                    <a:pt x="8509" y="12700"/>
                  </a:lnTo>
                  <a:lnTo>
                    <a:pt x="7679309" y="12700"/>
                  </a:lnTo>
                  <a:lnTo>
                    <a:pt x="7679309" y="21209"/>
                  </a:lnTo>
                  <a:lnTo>
                    <a:pt x="7670800" y="21209"/>
                  </a:lnTo>
                  <a:lnTo>
                    <a:pt x="7670800" y="8509"/>
                  </a:lnTo>
                  <a:lnTo>
                    <a:pt x="7679309" y="8509"/>
                  </a:lnTo>
                  <a:lnTo>
                    <a:pt x="7679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521509" y="1843735"/>
          <a:ext cx="14966949" cy="7670537"/>
        </p:xfrm>
        <a:graphic>
          <a:graphicData uri="http://schemas.openxmlformats.org/drawingml/2006/table">
            <a:tbl>
              <a:tblPr/>
              <a:tblGrid>
                <a:gridCol w="1441114"/>
                <a:gridCol w="2705167"/>
                <a:gridCol w="2705167"/>
                <a:gridCol w="2705167"/>
                <a:gridCol w="2705167"/>
                <a:gridCol w="2705167"/>
              </a:tblGrid>
              <a:tr h="8295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S.No</a:t>
                      </a:r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Author &amp; Year</a:t>
                      </a:r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Title of the Paper</a:t>
                      </a:r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Publication</a:t>
                      </a:r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Dataset</a:t>
                      </a:r>
                      <a:endParaRPr lang="en-US" sz="1100"/>
                    </a:p>
                    <a:p>
                      <a:pPr algn="ctr">
                        <a:lnSpc>
                          <a:spcPts val="2400"/>
                        </a:lnSpc>
                      </a:pPr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400"/>
                        </a:lnSpc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Findings / Contribution</a:t>
                      </a:r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25526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              </a:t>
                      </a:r>
                    </a:p>
                    <a:p>
                      <a:pPr algn="l">
                        <a:lnSpc>
                          <a:spcPts val="216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                  1</a:t>
                      </a:r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 Zhao, B. Li, H. Wan, H. Peng, Y. Zhou, and H.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EEG-bas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ed seizure detection using linear graph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convolution network with focal loss</a:t>
                      </a:r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Compu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ters in Biology and Medicine / IEEE indexed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HB-MIT EEG Dataset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posed Linear Graph Convolution Network (LGCN) with focal loss for seizure detection; improved seiz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 cl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ssifi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ation performance by modeling spatial EEG channel relationships and handling class imbalance effectively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2003306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endParaRPr lang="en-US" sz="1100"/>
                    </a:p>
                    <a:p>
                      <a:pPr algn="r">
                        <a:lnSpc>
                          <a:spcPts val="2160"/>
                        </a:lnSpc>
                      </a:pPr>
                    </a:p>
                    <a:p>
                      <a:pPr algn="r">
                        <a:lnSpc>
                          <a:spcPts val="2160"/>
                        </a:lnSpc>
                      </a:pPr>
                    </a:p>
                    <a:p>
                      <a:pPr algn="r">
                        <a:lnSpc>
                          <a:spcPts val="216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              2</a:t>
                      </a:r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Ruifeng Zheng et al. (2025)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EEG-based Epileptic Prediction via a Two-Stage Channel-Aware Set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arXiv Preprint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CHB-MIT EEG Dataset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Proposed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two-stage transformer model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reducing EEG sensors from 18 to 2.8 while maintaining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80.1% sensitivity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and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95.5% specificity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2849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  <a:p>
                      <a:pPr algn="l">
                        <a:lnSpc>
                          <a:spcPts val="216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                3</a:t>
                      </a:r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S. M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ekruksavanich, W. Phaphan, and A. Jitpattanakul (2025)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Epil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eptic Seizure Detection via Enhanced Hybrid Convolutional Neural Network with Attention Mechanism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athematical Biosciences and Engineering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CHB-M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IT EEG Dataset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Devel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oped hybri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CNN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with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anism to enhance seizure feature extraction; achieved improved detection accuracy by focusing on discriminative EEG temporal-spatial patterns.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5479305" y="568643"/>
            <a:ext cx="7051357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Literature Survey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268280">
            <a:off x="-6193041" y="-6046899"/>
            <a:ext cx="10936024" cy="10299744"/>
          </a:xfrm>
          <a:custGeom>
            <a:avLst/>
            <a:gdLst/>
            <a:ahLst/>
            <a:cxnLst/>
            <a:rect r="r" b="b" t="t" l="l"/>
            <a:pathLst>
              <a:path h="10299744" w="10936024">
                <a:moveTo>
                  <a:pt x="0" y="0"/>
                </a:moveTo>
                <a:lnTo>
                  <a:pt x="10936024" y="0"/>
                </a:lnTo>
                <a:lnTo>
                  <a:pt x="10936024" y="10299745"/>
                </a:lnTo>
                <a:lnTo>
                  <a:pt x="0" y="102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31" r="0" b="-131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2531240"/>
          <a:ext cx="15697200" cy="6500139"/>
        </p:xfrm>
        <a:graphic>
          <a:graphicData uri="http://schemas.openxmlformats.org/drawingml/2006/table">
            <a:tbl>
              <a:tblPr/>
              <a:tblGrid>
                <a:gridCol w="2616200"/>
                <a:gridCol w="2616200"/>
                <a:gridCol w="2616200"/>
                <a:gridCol w="2616200"/>
                <a:gridCol w="2616200"/>
                <a:gridCol w="2616200"/>
              </a:tblGrid>
              <a:tr h="17187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67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267"/>
                        </a:lnSpc>
                      </a:pPr>
                    </a:p>
                    <a:p>
                      <a:pPr algn="ctr">
                        <a:lnSpc>
                          <a:spcPts val="2267"/>
                        </a:lnSpc>
                      </a:pPr>
                    </a:p>
                    <a:p>
                      <a:pPr algn="ctr">
                        <a:lnSpc>
                          <a:spcPts val="2267"/>
                        </a:lnSpc>
                      </a:pPr>
                      <a:r>
                        <a:rPr lang="en-US" sz="188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S.No</a:t>
                      </a:r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67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267"/>
                        </a:lnSpc>
                      </a:pPr>
                    </a:p>
                    <a:p>
                      <a:pPr algn="ctr">
                        <a:lnSpc>
                          <a:spcPts val="2267"/>
                        </a:lnSpc>
                      </a:pPr>
                    </a:p>
                    <a:p>
                      <a:pPr algn="ctr">
                        <a:lnSpc>
                          <a:spcPts val="2267"/>
                        </a:lnSpc>
                      </a:pPr>
                      <a:r>
                        <a:rPr lang="en-US" sz="188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Author &amp; Year</a:t>
                      </a:r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67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267"/>
                        </a:lnSpc>
                      </a:pPr>
                    </a:p>
                    <a:p>
                      <a:pPr algn="ctr">
                        <a:lnSpc>
                          <a:spcPts val="2267"/>
                        </a:lnSpc>
                      </a:pPr>
                    </a:p>
                    <a:p>
                      <a:pPr algn="ctr">
                        <a:lnSpc>
                          <a:spcPts val="2267"/>
                        </a:lnSpc>
                      </a:pPr>
                      <a:r>
                        <a:rPr lang="en-US" sz="188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Title of the Paper</a:t>
                      </a:r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67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267"/>
                        </a:lnSpc>
                      </a:pPr>
                    </a:p>
                    <a:p>
                      <a:pPr algn="ctr">
                        <a:lnSpc>
                          <a:spcPts val="2267"/>
                        </a:lnSpc>
                      </a:pPr>
                    </a:p>
                    <a:p>
                      <a:pPr algn="ctr">
                        <a:lnSpc>
                          <a:spcPts val="2267"/>
                        </a:lnSpc>
                      </a:pPr>
                      <a:r>
                        <a:rPr lang="en-US" sz="188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Publication</a:t>
                      </a:r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67"/>
                        </a:lnSpc>
                        <a:defRPr/>
                      </a:pPr>
                      <a:r>
                        <a:rPr lang="en-US" sz="188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Dataset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67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267"/>
                        </a:lnSpc>
                      </a:pPr>
                    </a:p>
                    <a:p>
                      <a:pPr algn="ctr">
                        <a:lnSpc>
                          <a:spcPts val="2267"/>
                        </a:lnSpc>
                      </a:pPr>
                    </a:p>
                    <a:p>
                      <a:pPr algn="ctr">
                        <a:lnSpc>
                          <a:spcPts val="2267"/>
                        </a:lnSpc>
                      </a:pPr>
                      <a:r>
                        <a:rPr lang="en-US" sz="188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Findings / Contribution</a:t>
                      </a:r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24573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1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41"/>
                        </a:lnSpc>
                      </a:pPr>
                    </a:p>
                    <a:p>
                      <a:pPr algn="l">
                        <a:lnSpc>
                          <a:spcPts val="2041"/>
                        </a:lnSpc>
                      </a:pPr>
                    </a:p>
                    <a:p>
                      <a:pPr algn="l">
                        <a:lnSpc>
                          <a:spcPts val="2041"/>
                        </a:lnSpc>
                      </a:pPr>
                    </a:p>
                    <a:p>
                      <a:pPr algn="l">
                        <a:lnSpc>
                          <a:spcPts val="2041"/>
                        </a:lnSpc>
                      </a:pPr>
                    </a:p>
                    <a:p>
                      <a:pPr algn="l">
                        <a:lnSpc>
                          <a:spcPts val="2041"/>
                        </a:lnSpc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            4</a:t>
                      </a:r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I. Jem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al, A. Subasi, and F. Cote-Allard (2024)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Domain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Adaptation for EEG-Based Cross-Subject Epileptic Seizure Prediction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ers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fo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mat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cs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Cross-s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ubject EEG Dataset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Introduc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ed domain adaptation framework to improve seizure prediction across different patients; reduced subject variability and enhanced model generalization.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2324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1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41"/>
                        </a:lnSpc>
                      </a:pPr>
                    </a:p>
                    <a:p>
                      <a:pPr algn="l">
                        <a:lnSpc>
                          <a:spcPts val="2041"/>
                        </a:lnSpc>
                      </a:pPr>
                    </a:p>
                    <a:p>
                      <a:pPr algn="l">
                        <a:lnSpc>
                          <a:spcPts val="2041"/>
                        </a:lnSpc>
                      </a:pPr>
                    </a:p>
                    <a:p>
                      <a:pPr algn="l">
                        <a:lnSpc>
                          <a:spcPts val="2041"/>
                        </a:lnSpc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               5</a:t>
                      </a:r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D. K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ostas, S. Aroca-Ouellette, and F. Bhatt (2021)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ENDR: Using Transformers and Contrastive Self-Supervised Learning to Learn from Massive EEG Data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rontiers in Human Neuroscience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arge-scale EEG Corpus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Proposed transformer-based self-supervised EEG representation learning model; enabled strong transfer learning performance for downstream seizure tasks.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50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979125" y="786055"/>
            <a:ext cx="7051357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Literature Survey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268280">
            <a:off x="14795640" y="5873496"/>
            <a:ext cx="10936024" cy="10299744"/>
          </a:xfrm>
          <a:custGeom>
            <a:avLst/>
            <a:gdLst/>
            <a:ahLst/>
            <a:cxnLst/>
            <a:rect r="r" b="b" t="t" l="l"/>
            <a:pathLst>
              <a:path h="10299744" w="10936024">
                <a:moveTo>
                  <a:pt x="0" y="0"/>
                </a:moveTo>
                <a:lnTo>
                  <a:pt x="10936024" y="0"/>
                </a:lnTo>
                <a:lnTo>
                  <a:pt x="10936024" y="10299744"/>
                </a:lnTo>
                <a:lnTo>
                  <a:pt x="0" y="10299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31" r="0" b="-131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778017" y="1940862"/>
          <a:ext cx="10731965" cy="7615804"/>
        </p:xfrm>
        <a:graphic>
          <a:graphicData uri="http://schemas.openxmlformats.org/drawingml/2006/table">
            <a:tbl>
              <a:tblPr/>
              <a:tblGrid>
                <a:gridCol w="1723128"/>
                <a:gridCol w="3704490"/>
                <a:gridCol w="5304348"/>
              </a:tblGrid>
              <a:tr h="8434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Title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Stroke Prediction on Healthcare Data Using SMOTE and Explainable Machine Learning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XAI-Based Intelligent Disease Prediction System with Transparent Decision Insights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11648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Author Name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Ru</a:t>
                      </a: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ifeng Zheng et al. (2025)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Arun Pandian et al. (2026)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23483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LSTM,</a:t>
                      </a: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CNN, Basic ML models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endParaRPr lang="en-US" sz="1100"/>
                    </a:p>
                    <a:p>
                      <a:pPr algn="l" marL="362058" indent="-181029" lvl="1">
                        <a:lnSpc>
                          <a:spcPts val="2012"/>
                        </a:lnSpc>
                        <a:buFont typeface="Arial"/>
                        <a:buChar char="•"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Spiking Convolutional Transformer (SCT)</a:t>
                      </a:r>
                    </a:p>
                    <a:p>
                      <a:pPr algn="l" marL="362058" indent="-181029" lvl="1">
                        <a:lnSpc>
                          <a:spcPts val="2012"/>
                        </a:lnSpc>
                        <a:buFont typeface="Arial"/>
                        <a:buChar char="•"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Gradient Reversal Layer(GRL)</a:t>
                      </a:r>
                    </a:p>
                    <a:p>
                      <a:pPr algn="l" marL="362058" indent="-181029" lvl="1">
                        <a:lnSpc>
                          <a:spcPts val="2012"/>
                        </a:lnSpc>
                        <a:buFont typeface="Arial"/>
                        <a:buChar char="•"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Privacy-Preserved Federated Learning</a:t>
                      </a:r>
                    </a:p>
                    <a:p>
                      <a:pPr algn="l" marL="362058" indent="-181029" lvl="1">
                        <a:lnSpc>
                          <a:spcPts val="2012"/>
                        </a:lnSpc>
                        <a:buFont typeface="Arial"/>
                        <a:buChar char="•"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Gradient Reversal Layer Domain Adaptation Network (GRL-DAN)</a:t>
                      </a:r>
                    </a:p>
                    <a:p>
                      <a:pPr algn="l" marL="362058" indent="-181029" lvl="1">
                        <a:lnSpc>
                          <a:spcPts val="2012"/>
                        </a:lnSpc>
                        <a:buFont typeface="Arial"/>
                        <a:buChar char="•"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Domain-Adaptive Spiking Conv Transformer (DA-SCT)</a:t>
                      </a:r>
                    </a:p>
                    <a:p>
                      <a:pPr algn="l" marL="362058" indent="-181029" lvl="1">
                        <a:lnSpc>
                          <a:spcPts val="2012"/>
                        </a:lnSpc>
                        <a:buFont typeface="Arial"/>
                        <a:buChar char="•"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Shap XAI + Bestmodel(GRL-DAN) combined learning</a:t>
                      </a:r>
                    </a:p>
                    <a:p>
                      <a:pPr algn="l">
                        <a:lnSpc>
                          <a:spcPts val="2012"/>
                        </a:lnSpc>
                      </a:pPr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0903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PhysioNet C</a:t>
                      </a: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HB-MIT Pediatric EEG Dataset</a:t>
                      </a:r>
                      <a:endParaRPr lang="en-US" sz="1100"/>
                    </a:p>
                    <a:p>
                      <a:pPr algn="l">
                        <a:lnSpc>
                          <a:spcPts val="2012"/>
                        </a:lnSpc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(23 patients, ~900+ hours EEG, 198 seizures)</a:t>
                      </a:r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PhysioNet CHB-MIT Pediatric EEG Dataset</a:t>
                      </a:r>
                      <a:endParaRPr lang="en-US" sz="1100"/>
                    </a:p>
                    <a:p>
                      <a:pPr algn="l">
                        <a:lnSpc>
                          <a:spcPts val="2012"/>
                        </a:lnSpc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(23 patients, ~900+ hours EEG, 198 seizures)</a:t>
                      </a:r>
                    </a:p>
                    <a:p>
                      <a:pPr algn="l">
                        <a:lnSpc>
                          <a:spcPts val="2012"/>
                        </a:lnSpc>
                      </a:pPr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4531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Accuracy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97.08%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99.06%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7156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Explainability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 aplicable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12"/>
                        </a:lnSpc>
                        <a:defRPr/>
                      </a:pPr>
                      <a:r>
                        <a:rPr lang="en-US" sz="1676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SHAP feature interpretation for seizure risk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4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294322" y="681949"/>
            <a:ext cx="12963456" cy="73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8"/>
              </a:lnSpc>
            </a:pPr>
            <a:r>
              <a:rPr lang="en-US" sz="5108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Summary of Literature Survey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81869" y="3635500"/>
            <a:ext cx="14233094" cy="3850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5192" indent="-337596" lvl="1">
              <a:lnSpc>
                <a:spcPts val="4378"/>
              </a:lnSpc>
              <a:buFont typeface="Arial"/>
              <a:buChar char="•"/>
            </a:pPr>
            <a:r>
              <a:rPr lang="en-US" sz="312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Bui</a:t>
            </a:r>
            <a:r>
              <a:rPr lang="en-US" sz="312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ld an  AI system for epileptic seizure detection from EEG signals.</a:t>
            </a:r>
          </a:p>
          <a:p>
            <a:pPr algn="just" marL="675192" indent="-337596" lvl="1">
              <a:lnSpc>
                <a:spcPts val="4378"/>
              </a:lnSpc>
              <a:buFont typeface="Arial"/>
              <a:buChar char="•"/>
            </a:pPr>
            <a:r>
              <a:rPr lang="en-US" sz="312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Extract meaningf</a:t>
            </a:r>
            <a:r>
              <a:rPr lang="en-US" sz="312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ul EEG features to improve predictive performance.</a:t>
            </a:r>
          </a:p>
          <a:p>
            <a:pPr algn="just" marL="675192" indent="-337596" lvl="1">
              <a:lnSpc>
                <a:spcPts val="4378"/>
              </a:lnSpc>
              <a:buFont typeface="Arial"/>
              <a:buChar char="•"/>
            </a:pPr>
            <a:r>
              <a:rPr lang="en-US" sz="312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Improve classification using advanced hybrid deep learning models.</a:t>
            </a:r>
          </a:p>
          <a:p>
            <a:pPr algn="just" marL="675192" indent="-337596" lvl="1">
              <a:lnSpc>
                <a:spcPts val="4378"/>
              </a:lnSpc>
              <a:buFont typeface="Arial"/>
              <a:buChar char="•"/>
            </a:pPr>
            <a:r>
              <a:rPr lang="en-US" sz="312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Provide transparent predictions using Explainable AI techniques.</a:t>
            </a:r>
          </a:p>
          <a:p>
            <a:pPr algn="just" marL="675192" indent="-337596" lvl="1">
              <a:lnSpc>
                <a:spcPts val="4378"/>
              </a:lnSpc>
              <a:buFont typeface="Arial"/>
              <a:buChar char="•"/>
            </a:pPr>
            <a:r>
              <a:rPr lang="en-US" sz="312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Support secure, privacy-preserving federated learning.</a:t>
            </a:r>
          </a:p>
          <a:p>
            <a:pPr algn="just" marL="675192" indent="-337596" lvl="1">
              <a:lnSpc>
                <a:spcPts val="4378"/>
              </a:lnSpc>
              <a:buFont typeface="Arial"/>
              <a:buChar char="•"/>
            </a:pPr>
            <a:r>
              <a:rPr lang="en-US" sz="312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Enable deployment for clinical seizure monitoring.</a:t>
            </a:r>
          </a:p>
          <a:p>
            <a:pPr algn="just" marL="853919" indent="-213480" lvl="3">
              <a:lnSpc>
                <a:spcPts val="4378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077886" y="1263619"/>
            <a:ext cx="7277338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Project Objectives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90202" y="501415"/>
            <a:ext cx="7837582" cy="1054570"/>
            <a:chOff x="0" y="0"/>
            <a:chExt cx="10450110" cy="140609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8282" y="1369474"/>
              <a:ext cx="10441828" cy="36619"/>
              <a:chOff x="0" y="0"/>
              <a:chExt cx="13290423" cy="4660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8509" y="8509"/>
                <a:ext cx="13277723" cy="33909"/>
              </a:xfrm>
              <a:custGeom>
                <a:avLst/>
                <a:gdLst/>
                <a:ahLst/>
                <a:cxnLst/>
                <a:rect r="r" b="b" t="t" l="l"/>
                <a:pathLst>
                  <a:path h="33909" w="13277723">
                    <a:moveTo>
                      <a:pt x="0" y="0"/>
                    </a:moveTo>
                    <a:lnTo>
                      <a:pt x="13277723" y="0"/>
                    </a:lnTo>
                    <a:lnTo>
                      <a:pt x="13277723" y="33909"/>
                    </a:lnTo>
                    <a:lnTo>
                      <a:pt x="0" y="33909"/>
                    </a:lnTo>
                    <a:close/>
                  </a:path>
                </a:pathLst>
              </a:custGeom>
              <a:solidFill>
                <a:srgbClr val="2F4F4F"/>
              </a:solidFill>
            </p:spPr>
          </p:sp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3294742" cy="50927"/>
              </a:xfrm>
              <a:custGeom>
                <a:avLst/>
                <a:gdLst/>
                <a:ahLst/>
                <a:cxnLst/>
                <a:rect r="r" b="b" t="t" l="l"/>
                <a:pathLst>
                  <a:path h="50927" w="13294742">
                    <a:moveTo>
                      <a:pt x="8509" y="0"/>
                    </a:moveTo>
                    <a:lnTo>
                      <a:pt x="13286232" y="0"/>
                    </a:lnTo>
                    <a:cubicBezTo>
                      <a:pt x="13290931" y="0"/>
                      <a:pt x="13294742" y="3810"/>
                      <a:pt x="13294742" y="8509"/>
                    </a:cubicBezTo>
                    <a:lnTo>
                      <a:pt x="13294742" y="42418"/>
                    </a:lnTo>
                    <a:cubicBezTo>
                      <a:pt x="13294742" y="47117"/>
                      <a:pt x="13290931" y="50927"/>
                      <a:pt x="13286232" y="50927"/>
                    </a:cubicBezTo>
                    <a:lnTo>
                      <a:pt x="8509" y="50927"/>
                    </a:lnTo>
                    <a:cubicBezTo>
                      <a:pt x="3810" y="50800"/>
                      <a:pt x="0" y="46990"/>
                      <a:pt x="0" y="42418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42418"/>
                    </a:lnTo>
                    <a:lnTo>
                      <a:pt x="8509" y="42418"/>
                    </a:lnTo>
                    <a:lnTo>
                      <a:pt x="8509" y="33909"/>
                    </a:lnTo>
                    <a:lnTo>
                      <a:pt x="13286232" y="33909"/>
                    </a:lnTo>
                    <a:lnTo>
                      <a:pt x="13286232" y="42418"/>
                    </a:lnTo>
                    <a:lnTo>
                      <a:pt x="13277723" y="42418"/>
                    </a:lnTo>
                    <a:lnTo>
                      <a:pt x="13277723" y="8509"/>
                    </a:lnTo>
                    <a:lnTo>
                      <a:pt x="13286232" y="8509"/>
                    </a:lnTo>
                    <a:lnTo>
                      <a:pt x="13286232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0290637" cy="11368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03"/>
                </a:lnSpc>
              </a:pPr>
              <a:r>
                <a:rPr lang="en-US" sz="5585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Current Implementation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164183" y="7750406"/>
            <a:ext cx="10889620" cy="1360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4"/>
              </a:lnSpc>
            </a:pP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EEG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datasets for epilepsy were collected from trusted sources and preprocessed.</a:t>
            </a:r>
          </a:p>
          <a:p>
            <a:pPr algn="l" marL="420116" indent="-210058" lvl="1">
              <a:lnSpc>
                <a:spcPts val="2724"/>
              </a:lnSpc>
              <a:buFont typeface="Arial"/>
              <a:buChar char="•"/>
            </a:pP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Baseline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SCT 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and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GRL-DAN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models were implemented, normalized using StandardScaler, and split into 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training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validation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and testing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sets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  <a:p>
            <a:pPr algn="l" marL="420116" indent="-210058" lvl="1">
              <a:lnSpc>
                <a:spcPts val="2724"/>
              </a:lnSpc>
              <a:buFont typeface="Arial"/>
              <a:buChar char="•"/>
            </a:pP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The models were successfully trained and achieved promising accuracy for seizure prediction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8449" y="2693300"/>
            <a:ext cx="7513524" cy="4140900"/>
            <a:chOff x="0" y="0"/>
            <a:chExt cx="28530987" cy="157241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30987" cy="15724175"/>
            </a:xfrm>
            <a:custGeom>
              <a:avLst/>
              <a:gdLst/>
              <a:ahLst/>
              <a:cxnLst/>
              <a:rect r="r" b="b" t="t" l="l"/>
              <a:pathLst>
                <a:path h="15724175" w="28530987">
                  <a:moveTo>
                    <a:pt x="0" y="0"/>
                  </a:moveTo>
                  <a:lnTo>
                    <a:pt x="28530987" y="0"/>
                  </a:lnTo>
                  <a:lnTo>
                    <a:pt x="28530987" y="15724175"/>
                  </a:lnTo>
                  <a:lnTo>
                    <a:pt x="0" y="15724175"/>
                  </a:lnTo>
                  <a:close/>
                </a:path>
              </a:pathLst>
            </a:custGeom>
            <a:blipFill>
              <a:blip r:embed="rId2"/>
              <a:stretch>
                <a:fillRect l="0" t="-691" r="0" b="-69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382774" y="6552261"/>
            <a:ext cx="452438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(1)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76260"/>
            <a:ext cx="3613982" cy="2481571"/>
            <a:chOff x="0" y="0"/>
            <a:chExt cx="9742219" cy="6689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42219" cy="6689576"/>
            </a:xfrm>
            <a:custGeom>
              <a:avLst/>
              <a:gdLst/>
              <a:ahLst/>
              <a:cxnLst/>
              <a:rect r="r" b="b" t="t" l="l"/>
              <a:pathLst>
                <a:path h="6689576" w="9742219">
                  <a:moveTo>
                    <a:pt x="0" y="0"/>
                  </a:moveTo>
                  <a:lnTo>
                    <a:pt x="9742219" y="0"/>
                  </a:lnTo>
                  <a:lnTo>
                    <a:pt x="9742219" y="6689576"/>
                  </a:lnTo>
                  <a:lnTo>
                    <a:pt x="0" y="6689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17" r="0" b="-151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42299" y="3580743"/>
            <a:ext cx="5127842" cy="1775399"/>
            <a:chOff x="0" y="0"/>
            <a:chExt cx="19321344" cy="66895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21345" cy="6689576"/>
            </a:xfrm>
            <a:custGeom>
              <a:avLst/>
              <a:gdLst/>
              <a:ahLst/>
              <a:cxnLst/>
              <a:rect r="r" b="b" t="t" l="l"/>
              <a:pathLst>
                <a:path h="6689576" w="19321345">
                  <a:moveTo>
                    <a:pt x="0" y="0"/>
                  </a:moveTo>
                  <a:lnTo>
                    <a:pt x="19321345" y="0"/>
                  </a:lnTo>
                  <a:lnTo>
                    <a:pt x="19321345" y="6689576"/>
                  </a:lnTo>
                  <a:lnTo>
                    <a:pt x="0" y="6689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47" r="0" b="-144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734641" y="7542868"/>
            <a:ext cx="5161482" cy="1922652"/>
          </a:xfrm>
          <a:custGeom>
            <a:avLst/>
            <a:gdLst/>
            <a:ahLst/>
            <a:cxnLst/>
            <a:rect r="r" b="b" t="t" l="l"/>
            <a:pathLst>
              <a:path h="1922652" w="5161482">
                <a:moveTo>
                  <a:pt x="0" y="0"/>
                </a:moveTo>
                <a:lnTo>
                  <a:pt x="5161482" y="0"/>
                </a:lnTo>
                <a:lnTo>
                  <a:pt x="5161482" y="1922652"/>
                </a:lnTo>
                <a:lnTo>
                  <a:pt x="0" y="192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94057" y="3661818"/>
            <a:ext cx="6696867" cy="1481682"/>
          </a:xfrm>
          <a:custGeom>
            <a:avLst/>
            <a:gdLst/>
            <a:ahLst/>
            <a:cxnLst/>
            <a:rect r="r" b="b" t="t" l="l"/>
            <a:pathLst>
              <a:path h="1481682" w="6696867">
                <a:moveTo>
                  <a:pt x="0" y="0"/>
                </a:moveTo>
                <a:lnTo>
                  <a:pt x="6696867" y="0"/>
                </a:lnTo>
                <a:lnTo>
                  <a:pt x="6696867" y="1481682"/>
                </a:lnTo>
                <a:lnTo>
                  <a:pt x="0" y="1481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46633" y="596419"/>
            <a:ext cx="9377157" cy="85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Preprocessing Techniques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31101" y="1884025"/>
            <a:ext cx="12904337" cy="101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4"/>
              </a:lnSpc>
            </a:pP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EEG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signals are preprocessed using wavelet decomposition,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statistical feature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extr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action,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ower Spectral Density (PSD) analysis, channel co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rrelation mapping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and </a:t>
            </a:r>
            <a:r>
              <a:rPr lang="en-US" b="true" sz="1945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Synthetic Minority Over-sampling Technique (SMOTE)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balancing</a:t>
            </a: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  <a:p>
            <a:pPr algn="l" marL="420116" indent="-210058" lvl="1">
              <a:lnSpc>
                <a:spcPts val="2724"/>
              </a:lnSpc>
              <a:buFont typeface="Arial"/>
              <a:buChar char="•"/>
            </a:pPr>
            <a:r>
              <a:rPr lang="en-US" sz="19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These steps enhance signal quality and capture key EEG patterns for seizure detection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35691" y="5991744"/>
            <a:ext cx="226219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(1)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3270" y="5597260"/>
            <a:ext cx="262588" cy="30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sz="18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(2)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06219" y="5597260"/>
            <a:ext cx="262588" cy="30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sz="18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(3)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0685" y="6502284"/>
            <a:ext cx="4256231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Wavelet decomposition splits EEG signals int</a:t>
            </a: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multiple frequency bands to remove noise and highlight seizure patterns.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55154" y="6166051"/>
            <a:ext cx="4256231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Statistical features capture differences between normal and seizure EEG signals t</a:t>
            </a: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detect abnormal patterns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78104" y="6123189"/>
            <a:ext cx="4256231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Seizure temporal statistics analyze seizure duration and intervals to understand seizure </a:t>
            </a: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occurrence patterns over time.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82732" y="8343623"/>
            <a:ext cx="262588" cy="30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sz="18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(4)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78104" y="8158437"/>
            <a:ext cx="4256231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Power Spectral Density (PSD) shows frequency-band power differences, revealing stronger abn</a:t>
            </a: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ormal activity in seizure EEG signals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652" y="1659893"/>
            <a:ext cx="4892808" cy="3033541"/>
          </a:xfrm>
          <a:custGeom>
            <a:avLst/>
            <a:gdLst/>
            <a:ahLst/>
            <a:cxnLst/>
            <a:rect r="r" b="b" t="t" l="l"/>
            <a:pathLst>
              <a:path h="3033541" w="4892808">
                <a:moveTo>
                  <a:pt x="0" y="0"/>
                </a:moveTo>
                <a:lnTo>
                  <a:pt x="4892809" y="0"/>
                </a:lnTo>
                <a:lnTo>
                  <a:pt x="4892809" y="3033541"/>
                </a:lnTo>
                <a:lnTo>
                  <a:pt x="0" y="3033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73644" y="1993812"/>
            <a:ext cx="4276196" cy="2827634"/>
          </a:xfrm>
          <a:custGeom>
            <a:avLst/>
            <a:gdLst/>
            <a:ahLst/>
            <a:cxnLst/>
            <a:rect r="r" b="b" t="t" l="l"/>
            <a:pathLst>
              <a:path h="2827634" w="4276196">
                <a:moveTo>
                  <a:pt x="0" y="0"/>
                </a:moveTo>
                <a:lnTo>
                  <a:pt x="4276195" y="0"/>
                </a:lnTo>
                <a:lnTo>
                  <a:pt x="4276195" y="2827635"/>
                </a:lnTo>
                <a:lnTo>
                  <a:pt x="0" y="2827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909583"/>
            <a:ext cx="8390540" cy="2684973"/>
          </a:xfrm>
          <a:custGeom>
            <a:avLst/>
            <a:gdLst/>
            <a:ahLst/>
            <a:cxnLst/>
            <a:rect r="r" b="b" t="t" l="l"/>
            <a:pathLst>
              <a:path h="2684973" w="8390540">
                <a:moveTo>
                  <a:pt x="0" y="0"/>
                </a:moveTo>
                <a:lnTo>
                  <a:pt x="8390540" y="0"/>
                </a:lnTo>
                <a:lnTo>
                  <a:pt x="8390540" y="2684973"/>
                </a:lnTo>
                <a:lnTo>
                  <a:pt x="0" y="2684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95230" y="1924584"/>
            <a:ext cx="3264070" cy="2896862"/>
          </a:xfrm>
          <a:custGeom>
            <a:avLst/>
            <a:gdLst/>
            <a:ahLst/>
            <a:cxnLst/>
            <a:rect r="r" b="b" t="t" l="l"/>
            <a:pathLst>
              <a:path h="2896862" w="3264070">
                <a:moveTo>
                  <a:pt x="0" y="0"/>
                </a:moveTo>
                <a:lnTo>
                  <a:pt x="3264070" y="0"/>
                </a:lnTo>
                <a:lnTo>
                  <a:pt x="3264070" y="2896863"/>
                </a:lnTo>
                <a:lnTo>
                  <a:pt x="0" y="28968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46633" y="596419"/>
            <a:ext cx="9930216" cy="85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Preprocessing Techniques </a:t>
            </a:r>
            <a:r>
              <a:rPr lang="en-US" sz="5585">
                <a:solidFill>
                  <a:srgbClr val="708090"/>
                </a:solidFill>
                <a:latin typeface="Georgia"/>
                <a:ea typeface="Georgia"/>
                <a:cs typeface="Georgia"/>
                <a:sym typeface="Georgia"/>
              </a:rPr>
              <a:t>(II)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99057" y="5986939"/>
            <a:ext cx="328674" cy="39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5"/>
              </a:lnSpc>
              <a:spcBef>
                <a:spcPct val="0"/>
              </a:spcBef>
            </a:pPr>
            <a:r>
              <a:rPr lang="en-US" sz="23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(5)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93608" y="5010298"/>
            <a:ext cx="4256231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8" indent="-172719" lvl="1">
              <a:lnSpc>
                <a:spcPts val="17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Seizure EEG shows higher amplitude with sharp abnormal spikes.</a:t>
            </a:r>
          </a:p>
          <a:p>
            <a:pPr algn="l" marL="345438" indent="-172719" lvl="1">
              <a:lnSpc>
                <a:spcPts val="17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Irregular rhythms clearly ind</a:t>
            </a: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icate seizure-related brain activity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47741" y="6149226"/>
            <a:ext cx="328674" cy="39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5"/>
              </a:lnSpc>
              <a:spcBef>
                <a:spcPct val="0"/>
              </a:spcBef>
            </a:pPr>
            <a:r>
              <a:rPr lang="en-US" sz="23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(6)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5278" y="5017918"/>
            <a:ext cx="4256231" cy="177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statistics analysis shows seizure frequency and duration vary significantly across patients, highlighting</a:t>
            </a: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dataset diversity and imbalance in seizure distribution.</a:t>
            </a:r>
          </a:p>
          <a:p>
            <a:pPr algn="ctr">
              <a:lnSpc>
                <a:spcPts val="1799"/>
              </a:lnSpc>
              <a:spcBef>
                <a:spcPct val="0"/>
              </a:spcBef>
            </a:pPr>
          </a:p>
          <a:p>
            <a:pPr algn="ctr">
              <a:lnSpc>
                <a:spcPts val="1799"/>
              </a:lnSpc>
              <a:spcBef>
                <a:spcPct val="0"/>
              </a:spcBef>
            </a:pPr>
          </a:p>
          <a:p>
            <a:pPr algn="ctr">
              <a:lnSpc>
                <a:spcPts val="1799"/>
              </a:lnSpc>
              <a:spcBef>
                <a:spcPct val="0"/>
              </a:spcBef>
            </a:pPr>
          </a:p>
          <a:p>
            <a:pPr algn="ctr">
              <a:lnSpc>
                <a:spcPts val="17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657841" y="7965558"/>
            <a:ext cx="6298098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8" indent="-172719" lvl="1">
              <a:lnSpc>
                <a:spcPts val="17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Before SMOTE: 824 seizure, 5800 normal samples (imbalanced dataset).</a:t>
            </a:r>
          </a:p>
          <a:p>
            <a:pPr algn="l" marL="345438" indent="-172719" lvl="1">
              <a:lnSpc>
                <a:spcPts val="17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After SMOTE: Both classes balanced to 5800 each.</a:t>
            </a:r>
          </a:p>
          <a:p>
            <a:pPr algn="l" marL="345438" indent="-172719" lvl="1">
              <a:lnSpc>
                <a:spcPts val="179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Total training samples increased to 11,600 for bett</a:t>
            </a: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 model accuracy.</a:t>
            </a:r>
          </a:p>
          <a:p>
            <a:pPr algn="l">
              <a:lnSpc>
                <a:spcPts val="17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499149" y="5017918"/>
            <a:ext cx="4256231" cy="177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statistics analysis shows seizure frequency and duration vary significantly across patients, highlighting</a:t>
            </a: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dataset diversity and imbalance in seizure distribution.</a:t>
            </a:r>
          </a:p>
          <a:p>
            <a:pPr algn="ctr">
              <a:lnSpc>
                <a:spcPts val="1799"/>
              </a:lnSpc>
              <a:spcBef>
                <a:spcPct val="0"/>
              </a:spcBef>
            </a:pPr>
          </a:p>
          <a:p>
            <a:pPr algn="ctr">
              <a:lnSpc>
                <a:spcPts val="1799"/>
              </a:lnSpc>
              <a:spcBef>
                <a:spcPct val="0"/>
              </a:spcBef>
            </a:pPr>
          </a:p>
          <a:p>
            <a:pPr algn="ctr">
              <a:lnSpc>
                <a:spcPts val="1799"/>
              </a:lnSpc>
              <a:spcBef>
                <a:spcPct val="0"/>
              </a:spcBef>
            </a:pPr>
          </a:p>
          <a:p>
            <a:pPr algn="ctr">
              <a:lnSpc>
                <a:spcPts val="17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627265" y="6149226"/>
            <a:ext cx="328674" cy="39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5"/>
              </a:lnSpc>
              <a:spcBef>
                <a:spcPct val="0"/>
              </a:spcBef>
            </a:pPr>
            <a:r>
              <a:rPr lang="en-US" sz="23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(7)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49262" y="8205615"/>
            <a:ext cx="328674" cy="39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5"/>
              </a:lnSpc>
              <a:spcBef>
                <a:spcPct val="0"/>
              </a:spcBef>
            </a:pPr>
            <a:r>
              <a:rPr lang="en-US" sz="23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(8)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0022" y="1912824"/>
            <a:ext cx="5769421" cy="5694178"/>
            <a:chOff x="0" y="0"/>
            <a:chExt cx="6177358" cy="609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7359" cy="6096795"/>
            </a:xfrm>
            <a:custGeom>
              <a:avLst/>
              <a:gdLst/>
              <a:ahLst/>
              <a:cxnLst/>
              <a:rect r="r" b="b" t="t" l="l"/>
              <a:pathLst>
                <a:path h="6096795" w="6177359">
                  <a:moveTo>
                    <a:pt x="0" y="0"/>
                  </a:moveTo>
                  <a:lnTo>
                    <a:pt x="6177359" y="0"/>
                  </a:lnTo>
                  <a:lnTo>
                    <a:pt x="6177359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938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19555" y="2082377"/>
            <a:ext cx="5597628" cy="5524625"/>
            <a:chOff x="0" y="0"/>
            <a:chExt cx="6177358" cy="609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77359" cy="6096795"/>
            </a:xfrm>
            <a:custGeom>
              <a:avLst/>
              <a:gdLst/>
              <a:ahLst/>
              <a:cxnLst/>
              <a:rect r="r" b="b" t="t" l="l"/>
              <a:pathLst>
                <a:path h="6096795" w="6177359">
                  <a:moveTo>
                    <a:pt x="0" y="0"/>
                  </a:moveTo>
                  <a:lnTo>
                    <a:pt x="6177359" y="0"/>
                  </a:lnTo>
                  <a:lnTo>
                    <a:pt x="6177359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9385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619689" y="760038"/>
            <a:ext cx="14599731" cy="85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Spiking Convolutional Transformer </a:t>
            </a: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(SCT)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31750" y="8861772"/>
            <a:ext cx="12110919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14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SCT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model achieved 98.6% accuracy with s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trong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seizure detection perf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rm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nce.</a:t>
            </a:r>
          </a:p>
          <a:p>
            <a:pPr algn="just" marL="604516" indent="-30225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 misclassification rate shows stable and reliable prediction capability.</a:t>
            </a:r>
          </a:p>
          <a:p>
            <a:pPr algn="just">
              <a:lnSpc>
                <a:spcPts val="314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074209" y="7866652"/>
            <a:ext cx="761048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(1.1)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61278" y="329757"/>
            <a:ext cx="1516284" cy="43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849">
                <a:solidFill>
                  <a:srgbClr val="708090"/>
                </a:solidFill>
                <a:latin typeface="Georgia"/>
                <a:ea typeface="Georgia"/>
                <a:cs typeface="Georgia"/>
                <a:sym typeface="Georgia"/>
              </a:rPr>
              <a:t>Model (I)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74982" y="7866652"/>
            <a:ext cx="761048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(1.2)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0022" y="1912824"/>
            <a:ext cx="5769421" cy="5694178"/>
            <a:chOff x="0" y="0"/>
            <a:chExt cx="6177358" cy="609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7359" cy="6096795"/>
            </a:xfrm>
            <a:custGeom>
              <a:avLst/>
              <a:gdLst/>
              <a:ahLst/>
              <a:cxnLst/>
              <a:rect r="r" b="b" t="t" l="l"/>
              <a:pathLst>
                <a:path h="6096795" w="6177359">
                  <a:moveTo>
                    <a:pt x="0" y="0"/>
                  </a:moveTo>
                  <a:lnTo>
                    <a:pt x="6177359" y="0"/>
                  </a:lnTo>
                  <a:lnTo>
                    <a:pt x="6177359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9385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713228" y="760038"/>
            <a:ext cx="12861544" cy="85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GRADIENT REVERSAL LAYER(</a:t>
            </a: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GRL)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31750" y="8861772"/>
            <a:ext cx="12985433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14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GRL model achieved 99.6% accuracy with excell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seizure cl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ification perf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rm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nce.</a:t>
            </a:r>
          </a:p>
          <a:p>
            <a:pPr algn="just" marL="604516" indent="-30225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ery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 misclassifications indicate strong reliability and stable prediction.</a:t>
            </a:r>
          </a:p>
          <a:p>
            <a:pPr algn="just">
              <a:lnSpc>
                <a:spcPts val="314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074209" y="7866652"/>
            <a:ext cx="761048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(2.1)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54121" y="329757"/>
            <a:ext cx="1657298" cy="43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849">
                <a:solidFill>
                  <a:srgbClr val="708090"/>
                </a:solidFill>
                <a:latin typeface="Georgia"/>
                <a:ea typeface="Georgia"/>
                <a:cs typeface="Georgia"/>
                <a:sym typeface="Georgia"/>
              </a:rPr>
              <a:t>Model (II)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19555" y="2082377"/>
            <a:ext cx="5597628" cy="5524625"/>
            <a:chOff x="0" y="0"/>
            <a:chExt cx="6177358" cy="6096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77359" cy="6096795"/>
            </a:xfrm>
            <a:custGeom>
              <a:avLst/>
              <a:gdLst/>
              <a:ahLst/>
              <a:cxnLst/>
              <a:rect r="r" b="b" t="t" l="l"/>
              <a:pathLst>
                <a:path h="6096795" w="6177359">
                  <a:moveTo>
                    <a:pt x="0" y="0"/>
                  </a:moveTo>
                  <a:lnTo>
                    <a:pt x="6177359" y="0"/>
                  </a:lnTo>
                  <a:lnTo>
                    <a:pt x="6177359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8974" t="0" r="-41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574982" y="7866652"/>
            <a:ext cx="761048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(2.2)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0022" y="1912824"/>
            <a:ext cx="5769421" cy="5694178"/>
            <a:chOff x="0" y="0"/>
            <a:chExt cx="6177358" cy="609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7359" cy="6096795"/>
            </a:xfrm>
            <a:custGeom>
              <a:avLst/>
              <a:gdLst/>
              <a:ahLst/>
              <a:cxnLst/>
              <a:rect r="r" b="b" t="t" l="l"/>
              <a:pathLst>
                <a:path h="6096795" w="6177359">
                  <a:moveTo>
                    <a:pt x="0" y="0"/>
                  </a:moveTo>
                  <a:lnTo>
                    <a:pt x="6177359" y="0"/>
                  </a:lnTo>
                  <a:lnTo>
                    <a:pt x="6177359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42" t="0" r="-990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19555" y="2082377"/>
            <a:ext cx="5597628" cy="5524625"/>
            <a:chOff x="0" y="0"/>
            <a:chExt cx="6177358" cy="609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77359" cy="6096795"/>
            </a:xfrm>
            <a:custGeom>
              <a:avLst/>
              <a:gdLst/>
              <a:ahLst/>
              <a:cxnLst/>
              <a:rect r="r" b="b" t="t" l="l"/>
              <a:pathLst>
                <a:path h="6096795" w="6177359">
                  <a:moveTo>
                    <a:pt x="0" y="0"/>
                  </a:moveTo>
                  <a:lnTo>
                    <a:pt x="6177359" y="0"/>
                  </a:lnTo>
                  <a:lnTo>
                    <a:pt x="6177359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9385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076376" y="760038"/>
            <a:ext cx="12861544" cy="85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Privacy Preserved Federated learning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5152" y="8811532"/>
            <a:ext cx="15743991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14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Federated learning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model achieved 99.6% accuracy with secure and privacy-pres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erving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seizure detection.</a:t>
            </a:r>
          </a:p>
          <a:p>
            <a:pPr algn="just" marL="604516" indent="-30225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Z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ero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fa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lse negatives show highly reliable prediction across distributed EEG data.</a:t>
            </a:r>
          </a:p>
          <a:p>
            <a:pPr algn="just">
              <a:lnSpc>
                <a:spcPts val="314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074209" y="7866652"/>
            <a:ext cx="761048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(3.1)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24239" y="544898"/>
            <a:ext cx="1798216" cy="43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849">
                <a:solidFill>
                  <a:srgbClr val="708090"/>
                </a:solidFill>
                <a:latin typeface="Georgia"/>
                <a:ea typeface="Georgia"/>
                <a:cs typeface="Georgia"/>
                <a:sym typeface="Georgia"/>
              </a:rPr>
              <a:t>Model (III)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74982" y="7866652"/>
            <a:ext cx="761048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(3.2)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0022" y="1912824"/>
            <a:ext cx="5769421" cy="5694178"/>
            <a:chOff x="0" y="0"/>
            <a:chExt cx="6177358" cy="609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7359" cy="6096795"/>
            </a:xfrm>
            <a:custGeom>
              <a:avLst/>
              <a:gdLst/>
              <a:ahLst/>
              <a:cxnLst/>
              <a:rect r="r" b="b" t="t" l="l"/>
              <a:pathLst>
                <a:path h="6096795" w="6177359">
                  <a:moveTo>
                    <a:pt x="0" y="0"/>
                  </a:moveTo>
                  <a:lnTo>
                    <a:pt x="6177359" y="0"/>
                  </a:lnTo>
                  <a:lnTo>
                    <a:pt x="6177359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42" t="0" r="-990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19555" y="1997601"/>
            <a:ext cx="5597628" cy="5524625"/>
            <a:chOff x="0" y="0"/>
            <a:chExt cx="6177358" cy="609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77359" cy="6096795"/>
            </a:xfrm>
            <a:custGeom>
              <a:avLst/>
              <a:gdLst/>
              <a:ahLst/>
              <a:cxnLst/>
              <a:rect r="r" b="b" t="t" l="l"/>
              <a:pathLst>
                <a:path h="6096795" w="6177359">
                  <a:moveTo>
                    <a:pt x="0" y="0"/>
                  </a:moveTo>
                  <a:lnTo>
                    <a:pt x="6177359" y="0"/>
                  </a:lnTo>
                  <a:lnTo>
                    <a:pt x="6177359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9385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056624" y="760038"/>
            <a:ext cx="12861544" cy="85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Domain Adaptaion SCT (DA-SCT)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31750" y="8861772"/>
            <a:ext cx="1517011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14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DA-SCT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model achieved 98.3% accuracy with stro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ng domain-adaptive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seizure detection perf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rm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nce.</a:t>
            </a:r>
          </a:p>
          <a:p>
            <a:pPr algn="just" marL="604516" indent="-30225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Stabl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conv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ergen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ce and low error rate indicate reliable cross-domain prediction capability.</a:t>
            </a:r>
          </a:p>
          <a:p>
            <a:pPr algn="just">
              <a:lnSpc>
                <a:spcPts val="314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074209" y="7866652"/>
            <a:ext cx="761048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(4.1)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18168" y="804035"/>
            <a:ext cx="1757391" cy="43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849">
                <a:solidFill>
                  <a:srgbClr val="708090"/>
                </a:solidFill>
                <a:latin typeface="Georgia"/>
                <a:ea typeface="Georgia"/>
                <a:cs typeface="Georgia"/>
                <a:sym typeface="Georgia"/>
              </a:rPr>
              <a:t>Model (IV)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74982" y="7866652"/>
            <a:ext cx="761048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(4.2)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0022" y="1912824"/>
            <a:ext cx="5769421" cy="5694178"/>
            <a:chOff x="0" y="0"/>
            <a:chExt cx="6177358" cy="609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7359" cy="6096795"/>
            </a:xfrm>
            <a:custGeom>
              <a:avLst/>
              <a:gdLst/>
              <a:ahLst/>
              <a:cxnLst/>
              <a:rect r="r" b="b" t="t" l="l"/>
              <a:pathLst>
                <a:path h="6096795" w="6177359">
                  <a:moveTo>
                    <a:pt x="0" y="0"/>
                  </a:moveTo>
                  <a:lnTo>
                    <a:pt x="6177359" y="0"/>
                  </a:lnTo>
                  <a:lnTo>
                    <a:pt x="6177359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938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19555" y="2082377"/>
            <a:ext cx="5597628" cy="5524625"/>
            <a:chOff x="0" y="0"/>
            <a:chExt cx="6177358" cy="609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77359" cy="6096795"/>
            </a:xfrm>
            <a:custGeom>
              <a:avLst/>
              <a:gdLst/>
              <a:ahLst/>
              <a:cxnLst/>
              <a:rect r="r" b="b" t="t" l="l"/>
              <a:pathLst>
                <a:path h="6096795" w="6177359">
                  <a:moveTo>
                    <a:pt x="0" y="0"/>
                  </a:moveTo>
                  <a:lnTo>
                    <a:pt x="6177359" y="0"/>
                  </a:lnTo>
                  <a:lnTo>
                    <a:pt x="6177359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9385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096128" y="596419"/>
            <a:ext cx="12861544" cy="85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Domain Adaptation </a:t>
            </a: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GRL (DA-GRL)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1674" y="8453625"/>
            <a:ext cx="15204651" cy="157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3353" indent="-291677" lvl="1">
              <a:lnSpc>
                <a:spcPts val="3039"/>
              </a:lnSpc>
              <a:buFont typeface="Arial"/>
              <a:buChar char="•"/>
            </a:pPr>
            <a:r>
              <a:rPr lang="en-US" sz="2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DA-</a:t>
            </a:r>
            <a:r>
              <a:rPr lang="en-US" sz="2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GRL model achieved 99.7% accuracy, delivering the bes</a:t>
            </a:r>
            <a:r>
              <a:rPr lang="en-US" sz="2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seizure detection perf</a:t>
            </a:r>
            <a:r>
              <a:rPr lang="en-US" sz="2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2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rm</a:t>
            </a:r>
            <a:r>
              <a:rPr lang="en-US" sz="2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nce among all models.</a:t>
            </a:r>
          </a:p>
          <a:p>
            <a:pPr algn="just" marL="583353" indent="-291677" lvl="1">
              <a:lnSpc>
                <a:spcPts val="3039"/>
              </a:lnSpc>
              <a:spcBef>
                <a:spcPct val="0"/>
              </a:spcBef>
              <a:buFont typeface="Arial"/>
              <a:buChar char="•"/>
            </a:pPr>
            <a:r>
              <a:rPr lang="en-US" sz="2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2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ear-zero</a:t>
            </a:r>
            <a:r>
              <a:rPr lang="en-US" sz="2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misclassification and excellent stability confirm superior cross-domain prediction reliability.</a:t>
            </a:r>
          </a:p>
          <a:p>
            <a:pPr algn="just">
              <a:lnSpc>
                <a:spcPts val="30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074209" y="7866652"/>
            <a:ext cx="761048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(2.1)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95525" y="596419"/>
            <a:ext cx="1616474" cy="43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849">
                <a:solidFill>
                  <a:srgbClr val="708090"/>
                </a:solidFill>
                <a:latin typeface="Georgia"/>
                <a:ea typeface="Georgia"/>
                <a:cs typeface="Georgia"/>
                <a:sym typeface="Georgia"/>
              </a:rPr>
              <a:t>Model (V)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74982" y="7866652"/>
            <a:ext cx="761048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(2.2)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32754" y="1869800"/>
            <a:ext cx="7831371" cy="27464"/>
            <a:chOff x="0" y="0"/>
            <a:chExt cx="13290423" cy="466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13277723" cy="33909"/>
            </a:xfrm>
            <a:custGeom>
              <a:avLst/>
              <a:gdLst/>
              <a:ahLst/>
              <a:cxnLst/>
              <a:rect r="r" b="b" t="t" l="l"/>
              <a:pathLst>
                <a:path h="33909" w="13277723">
                  <a:moveTo>
                    <a:pt x="0" y="0"/>
                  </a:moveTo>
                  <a:lnTo>
                    <a:pt x="13277723" y="0"/>
                  </a:lnTo>
                  <a:lnTo>
                    <a:pt x="13277723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2F4F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94742" cy="50927"/>
            </a:xfrm>
            <a:custGeom>
              <a:avLst/>
              <a:gdLst/>
              <a:ahLst/>
              <a:cxnLst/>
              <a:rect r="r" b="b" t="t" l="l"/>
              <a:pathLst>
                <a:path h="50927" w="13294742">
                  <a:moveTo>
                    <a:pt x="8509" y="0"/>
                  </a:moveTo>
                  <a:lnTo>
                    <a:pt x="13286232" y="0"/>
                  </a:lnTo>
                  <a:cubicBezTo>
                    <a:pt x="13290931" y="0"/>
                    <a:pt x="13294742" y="3810"/>
                    <a:pt x="13294742" y="8509"/>
                  </a:cubicBezTo>
                  <a:lnTo>
                    <a:pt x="13294742" y="42418"/>
                  </a:lnTo>
                  <a:cubicBezTo>
                    <a:pt x="13294742" y="47117"/>
                    <a:pt x="13290931" y="50927"/>
                    <a:pt x="13286232" y="50927"/>
                  </a:cubicBezTo>
                  <a:lnTo>
                    <a:pt x="8509" y="50927"/>
                  </a:lnTo>
                  <a:cubicBezTo>
                    <a:pt x="3810" y="50800"/>
                    <a:pt x="0" y="46990"/>
                    <a:pt x="0" y="4241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418"/>
                  </a:lnTo>
                  <a:lnTo>
                    <a:pt x="8509" y="42418"/>
                  </a:lnTo>
                  <a:lnTo>
                    <a:pt x="8509" y="33909"/>
                  </a:lnTo>
                  <a:lnTo>
                    <a:pt x="13286232" y="33909"/>
                  </a:lnTo>
                  <a:lnTo>
                    <a:pt x="13286232" y="42418"/>
                  </a:lnTo>
                  <a:lnTo>
                    <a:pt x="13277723" y="42418"/>
                  </a:lnTo>
                  <a:lnTo>
                    <a:pt x="13277723" y="8509"/>
                  </a:lnTo>
                  <a:lnTo>
                    <a:pt x="13286232" y="8509"/>
                  </a:lnTo>
                  <a:lnTo>
                    <a:pt x="13286232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5952873" y="857546"/>
            <a:ext cx="7717978" cy="85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Model Comparision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21531" y="3152747"/>
            <a:ext cx="8098639" cy="467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This table compares four deep learning models: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CNN-</a:t>
            </a: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LSTM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Spiking Convolutional Transformer (SCT)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Gradient Reversal Layer Network (GRL)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Domain Adaptation Spiking Conv Transformer (DA-SCT)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Evaluation Metrics Used: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Accuracy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Recall (Sensitivity)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F1 Score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AUC (Area Under ROC Curve)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Purpose: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To analyze detection capability, generalization performance, and seizure sensitivity across models.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60838" y="2357828"/>
            <a:ext cx="8783162" cy="6580426"/>
          </a:xfrm>
          <a:custGeom>
            <a:avLst/>
            <a:gdLst/>
            <a:ahLst/>
            <a:cxnLst/>
            <a:rect r="r" b="b" t="t" l="l"/>
            <a:pathLst>
              <a:path h="6580426" w="8783162">
                <a:moveTo>
                  <a:pt x="0" y="0"/>
                </a:moveTo>
                <a:lnTo>
                  <a:pt x="8783162" y="0"/>
                </a:lnTo>
                <a:lnTo>
                  <a:pt x="8783162" y="6580426"/>
                </a:lnTo>
                <a:lnTo>
                  <a:pt x="0" y="658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2451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32754" y="1869800"/>
            <a:ext cx="7831371" cy="27464"/>
            <a:chOff x="0" y="0"/>
            <a:chExt cx="13290423" cy="466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13277723" cy="33909"/>
            </a:xfrm>
            <a:custGeom>
              <a:avLst/>
              <a:gdLst/>
              <a:ahLst/>
              <a:cxnLst/>
              <a:rect r="r" b="b" t="t" l="l"/>
              <a:pathLst>
                <a:path h="33909" w="13277723">
                  <a:moveTo>
                    <a:pt x="0" y="0"/>
                  </a:moveTo>
                  <a:lnTo>
                    <a:pt x="13277723" y="0"/>
                  </a:lnTo>
                  <a:lnTo>
                    <a:pt x="13277723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2F4F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94742" cy="50927"/>
            </a:xfrm>
            <a:custGeom>
              <a:avLst/>
              <a:gdLst/>
              <a:ahLst/>
              <a:cxnLst/>
              <a:rect r="r" b="b" t="t" l="l"/>
              <a:pathLst>
                <a:path h="50927" w="13294742">
                  <a:moveTo>
                    <a:pt x="8509" y="0"/>
                  </a:moveTo>
                  <a:lnTo>
                    <a:pt x="13286232" y="0"/>
                  </a:lnTo>
                  <a:cubicBezTo>
                    <a:pt x="13290931" y="0"/>
                    <a:pt x="13294742" y="3810"/>
                    <a:pt x="13294742" y="8509"/>
                  </a:cubicBezTo>
                  <a:lnTo>
                    <a:pt x="13294742" y="42418"/>
                  </a:lnTo>
                  <a:cubicBezTo>
                    <a:pt x="13294742" y="47117"/>
                    <a:pt x="13290931" y="50927"/>
                    <a:pt x="13286232" y="50927"/>
                  </a:cubicBezTo>
                  <a:lnTo>
                    <a:pt x="8509" y="50927"/>
                  </a:lnTo>
                  <a:cubicBezTo>
                    <a:pt x="3810" y="50800"/>
                    <a:pt x="0" y="46990"/>
                    <a:pt x="0" y="4241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418"/>
                  </a:lnTo>
                  <a:lnTo>
                    <a:pt x="8509" y="42418"/>
                  </a:lnTo>
                  <a:lnTo>
                    <a:pt x="8509" y="33909"/>
                  </a:lnTo>
                  <a:lnTo>
                    <a:pt x="13286232" y="33909"/>
                  </a:lnTo>
                  <a:lnTo>
                    <a:pt x="13286232" y="42418"/>
                  </a:lnTo>
                  <a:lnTo>
                    <a:pt x="13277723" y="42418"/>
                  </a:lnTo>
                  <a:lnTo>
                    <a:pt x="13277723" y="8509"/>
                  </a:lnTo>
                  <a:lnTo>
                    <a:pt x="13286232" y="8509"/>
                  </a:lnTo>
                  <a:lnTo>
                    <a:pt x="13286232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63044" y="3278491"/>
            <a:ext cx="10033087" cy="4213896"/>
          </a:xfrm>
          <a:custGeom>
            <a:avLst/>
            <a:gdLst/>
            <a:ahLst/>
            <a:cxnLst/>
            <a:rect r="r" b="b" t="t" l="l"/>
            <a:pathLst>
              <a:path h="4213896" w="10033087">
                <a:moveTo>
                  <a:pt x="0" y="0"/>
                </a:moveTo>
                <a:lnTo>
                  <a:pt x="10033086" y="0"/>
                </a:lnTo>
                <a:lnTo>
                  <a:pt x="10033086" y="4213896"/>
                </a:lnTo>
                <a:lnTo>
                  <a:pt x="0" y="4213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52873" y="857546"/>
            <a:ext cx="7717978" cy="85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Model Comparision II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02496" y="3268966"/>
            <a:ext cx="6992979" cy="454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1"/>
              </a:lnSpc>
              <a:spcBef>
                <a:spcPct val="0"/>
              </a:spcBef>
            </a:pP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This graph compares f</a:t>
            </a: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our seizure prediction models across Accuracy, Precision, Recall, F1-score, and AUC.</a:t>
            </a:r>
          </a:p>
          <a:p>
            <a:pPr algn="just">
              <a:lnSpc>
                <a:spcPts val="2561"/>
              </a:lnSpc>
              <a:spcBef>
                <a:spcPct val="0"/>
              </a:spcBef>
            </a:pP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CNN-LSTM and GRL show the best overall performance with 97% accuracy and very high F1-scores (0.96). CNN-LSTM achieves the highest recall (0.99), meaning it detects almost all seizures. GRL performs nearly as well (0.96 recall) while improving generalization through domain adaptation.</a:t>
            </a:r>
          </a:p>
          <a:p>
            <a:pPr algn="just">
              <a:lnSpc>
                <a:spcPts val="2561"/>
              </a:lnSpc>
              <a:spcBef>
                <a:spcPct val="0"/>
              </a:spcBef>
            </a:pP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DA-SCT delivers balanced performance across all metrics, while SCT shows lower recall (0.79), indicating more missed seizures.</a:t>
            </a:r>
          </a:p>
          <a:p>
            <a:pPr algn="just">
              <a:lnSpc>
                <a:spcPts val="2561"/>
              </a:lnSpc>
              <a:spcBef>
                <a:spcPct val="0"/>
              </a:spcBef>
            </a:pP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Overall, CNN-LSTM and GRL are the strongest models, with GRL offering better cross-patient robustness.</a:t>
            </a:r>
          </a:p>
          <a:p>
            <a:pPr algn="just">
              <a:lnSpc>
                <a:spcPts val="256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13016" y="1207330"/>
            <a:ext cx="1155497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7"/>
              </a:lnSpc>
            </a:pPr>
            <a:r>
              <a:rPr lang="en-US" sz="4627" b="true">
                <a:solidFill>
                  <a:srgbClr val="70809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XAI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32754" y="1869800"/>
            <a:ext cx="7831371" cy="27464"/>
            <a:chOff x="0" y="0"/>
            <a:chExt cx="13290423" cy="466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13277723" cy="33909"/>
            </a:xfrm>
            <a:custGeom>
              <a:avLst/>
              <a:gdLst/>
              <a:ahLst/>
              <a:cxnLst/>
              <a:rect r="r" b="b" t="t" l="l"/>
              <a:pathLst>
                <a:path h="33909" w="13277723">
                  <a:moveTo>
                    <a:pt x="0" y="0"/>
                  </a:moveTo>
                  <a:lnTo>
                    <a:pt x="13277723" y="0"/>
                  </a:lnTo>
                  <a:lnTo>
                    <a:pt x="13277723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2F4F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94742" cy="50927"/>
            </a:xfrm>
            <a:custGeom>
              <a:avLst/>
              <a:gdLst/>
              <a:ahLst/>
              <a:cxnLst/>
              <a:rect r="r" b="b" t="t" l="l"/>
              <a:pathLst>
                <a:path h="50927" w="13294742">
                  <a:moveTo>
                    <a:pt x="8509" y="0"/>
                  </a:moveTo>
                  <a:lnTo>
                    <a:pt x="13286232" y="0"/>
                  </a:lnTo>
                  <a:cubicBezTo>
                    <a:pt x="13290931" y="0"/>
                    <a:pt x="13294742" y="3810"/>
                    <a:pt x="13294742" y="8509"/>
                  </a:cubicBezTo>
                  <a:lnTo>
                    <a:pt x="13294742" y="42418"/>
                  </a:lnTo>
                  <a:cubicBezTo>
                    <a:pt x="13294742" y="47117"/>
                    <a:pt x="13290931" y="50927"/>
                    <a:pt x="13286232" y="50927"/>
                  </a:cubicBezTo>
                  <a:lnTo>
                    <a:pt x="8509" y="50927"/>
                  </a:lnTo>
                  <a:cubicBezTo>
                    <a:pt x="3810" y="50800"/>
                    <a:pt x="0" y="46990"/>
                    <a:pt x="0" y="4241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418"/>
                  </a:lnTo>
                  <a:lnTo>
                    <a:pt x="8509" y="42418"/>
                  </a:lnTo>
                  <a:lnTo>
                    <a:pt x="8509" y="33909"/>
                  </a:lnTo>
                  <a:lnTo>
                    <a:pt x="13286232" y="33909"/>
                  </a:lnTo>
                  <a:lnTo>
                    <a:pt x="13286232" y="42418"/>
                  </a:lnTo>
                  <a:lnTo>
                    <a:pt x="13277723" y="42418"/>
                  </a:lnTo>
                  <a:lnTo>
                    <a:pt x="13277723" y="8509"/>
                  </a:lnTo>
                  <a:lnTo>
                    <a:pt x="13286232" y="8509"/>
                  </a:lnTo>
                  <a:lnTo>
                    <a:pt x="13286232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90764" y="2702909"/>
            <a:ext cx="6904721" cy="6814672"/>
            <a:chOff x="0" y="0"/>
            <a:chExt cx="6177358" cy="60967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77359" cy="6096795"/>
            </a:xfrm>
            <a:custGeom>
              <a:avLst/>
              <a:gdLst/>
              <a:ahLst/>
              <a:cxnLst/>
              <a:rect r="r" b="b" t="t" l="l"/>
              <a:pathLst>
                <a:path h="6096795" w="6177359">
                  <a:moveTo>
                    <a:pt x="0" y="0"/>
                  </a:moveTo>
                  <a:lnTo>
                    <a:pt x="6177359" y="0"/>
                  </a:lnTo>
                  <a:lnTo>
                    <a:pt x="6177359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4869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927257" y="2981646"/>
            <a:ext cx="3391766" cy="2925345"/>
            <a:chOff x="0" y="0"/>
            <a:chExt cx="9258633" cy="79854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58633" cy="7985427"/>
            </a:xfrm>
            <a:custGeom>
              <a:avLst/>
              <a:gdLst/>
              <a:ahLst/>
              <a:cxnLst/>
              <a:rect r="r" b="b" t="t" l="l"/>
              <a:pathLst>
                <a:path h="7985427" w="9258633">
                  <a:moveTo>
                    <a:pt x="0" y="0"/>
                  </a:moveTo>
                  <a:lnTo>
                    <a:pt x="9258633" y="0"/>
                  </a:lnTo>
                  <a:lnTo>
                    <a:pt x="9258633" y="7985427"/>
                  </a:lnTo>
                  <a:lnTo>
                    <a:pt x="0" y="7985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399" r="0" b="-639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77618" y="2981646"/>
            <a:ext cx="3391766" cy="2925345"/>
            <a:chOff x="0" y="0"/>
            <a:chExt cx="9258633" cy="79854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58633" cy="7985427"/>
            </a:xfrm>
            <a:custGeom>
              <a:avLst/>
              <a:gdLst/>
              <a:ahLst/>
              <a:cxnLst/>
              <a:rect r="r" b="b" t="t" l="l"/>
              <a:pathLst>
                <a:path h="7985427" w="9258633">
                  <a:moveTo>
                    <a:pt x="0" y="0"/>
                  </a:moveTo>
                  <a:lnTo>
                    <a:pt x="9258633" y="0"/>
                  </a:lnTo>
                  <a:lnTo>
                    <a:pt x="9258633" y="7985427"/>
                  </a:lnTo>
                  <a:lnTo>
                    <a:pt x="0" y="7985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467" r="0" b="-1146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285011" y="800396"/>
            <a:ext cx="7717978" cy="85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55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Explainable AI Report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84269" y="6981848"/>
            <a:ext cx="6992979" cy="227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0868" indent="-230434" lvl="1">
              <a:lnSpc>
                <a:spcPts val="2561"/>
              </a:lnSpc>
              <a:spcBef>
                <a:spcPct val="0"/>
              </a:spcBef>
              <a:buFont typeface="Arial"/>
              <a:buChar char="•"/>
            </a:pP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SHAP analy</a:t>
            </a: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sis identifies C3-P3, T8-P8, and F3-C3 as the most influential EEG channels in seizure prediction.</a:t>
            </a:r>
          </a:p>
          <a:p>
            <a:pPr algn="just" marL="460868" indent="-230434" lvl="1">
              <a:lnSpc>
                <a:spcPts val="2561"/>
              </a:lnSpc>
              <a:spcBef>
                <a:spcPct val="0"/>
              </a:spcBef>
              <a:buFont typeface="Arial"/>
              <a:buChar char="•"/>
            </a:pP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Temporal importance profile highlights key time segments where the DA-GRL model focuses during seizure detection</a:t>
            </a:r>
          </a:p>
          <a:p>
            <a:pPr algn="just">
              <a:lnSpc>
                <a:spcPts val="2561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13016" y="1207330"/>
            <a:ext cx="1155497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7"/>
              </a:lnSpc>
            </a:pPr>
            <a:r>
              <a:rPr lang="en-US" sz="4627" b="true">
                <a:solidFill>
                  <a:srgbClr val="70809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XAI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77618" y="1112080"/>
            <a:ext cx="3479553" cy="43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849">
                <a:solidFill>
                  <a:srgbClr val="708090"/>
                </a:solidFill>
                <a:latin typeface="Georgia"/>
                <a:ea typeface="Georgia"/>
                <a:cs typeface="Georgia"/>
                <a:sym typeface="Georgia"/>
              </a:rPr>
              <a:t>Best model(DA-GRL)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3016" y="3338426"/>
            <a:ext cx="9584230" cy="6236311"/>
            <a:chOff x="0" y="0"/>
            <a:chExt cx="9676292" cy="6296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6292" cy="6296214"/>
            </a:xfrm>
            <a:custGeom>
              <a:avLst/>
              <a:gdLst/>
              <a:ahLst/>
              <a:cxnLst/>
              <a:rect r="r" b="b" t="t" l="l"/>
              <a:pathLst>
                <a:path h="6296214" w="9676292">
                  <a:moveTo>
                    <a:pt x="0" y="0"/>
                  </a:moveTo>
                  <a:lnTo>
                    <a:pt x="9676292" y="0"/>
                  </a:lnTo>
                  <a:lnTo>
                    <a:pt x="9676292" y="6296214"/>
                  </a:lnTo>
                  <a:lnTo>
                    <a:pt x="0" y="6296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03" r="0" b="-100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46829" y="1856811"/>
            <a:ext cx="10051766" cy="75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3"/>
              </a:lnSpc>
            </a:pPr>
            <a:r>
              <a:rPr lang="en-US" sz="48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Why SHAP is Preferred Over LIME?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95962" y="5021031"/>
            <a:ext cx="7447277" cy="227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0868" indent="-230434" lvl="1">
              <a:lnSpc>
                <a:spcPts val="2561"/>
              </a:lnSpc>
              <a:spcBef>
                <a:spcPct val="0"/>
              </a:spcBef>
              <a:buFont typeface="Arial"/>
              <a:buChar char="•"/>
            </a:pP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SHAP (SHapley Additive exPlanations) provides more con</a:t>
            </a: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sistent and detailed channel-level feature importance than LIME (Local Interpretable Model-agnostic Explanations) for EEG seizure analysis.</a:t>
            </a:r>
          </a:p>
          <a:p>
            <a:pPr algn="just" marL="460868" indent="-230434" lvl="1">
              <a:lnSpc>
                <a:spcPts val="2561"/>
              </a:lnSpc>
              <a:spcBef>
                <a:spcPct val="0"/>
              </a:spcBef>
              <a:buFont typeface="Arial"/>
              <a:buChar char="•"/>
            </a:pP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SHAP </a:t>
            </a: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offers both global and local interpretability, making model decisions more reliable for clinical understanding</a:t>
            </a:r>
          </a:p>
          <a:p>
            <a:pPr algn="just">
              <a:lnSpc>
                <a:spcPts val="2561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13016" y="1207330"/>
            <a:ext cx="1155497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7"/>
              </a:lnSpc>
            </a:pPr>
            <a:r>
              <a:rPr lang="en-US" sz="4627" b="true">
                <a:solidFill>
                  <a:srgbClr val="70809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XAI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481563"/>
            <a:ext cx="8115300" cy="2947785"/>
            <a:chOff x="0" y="0"/>
            <a:chExt cx="16784574" cy="609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84574" cy="6096795"/>
            </a:xfrm>
            <a:custGeom>
              <a:avLst/>
              <a:gdLst/>
              <a:ahLst/>
              <a:cxnLst/>
              <a:rect r="r" b="b" t="t" l="l"/>
              <a:pathLst>
                <a:path h="6096795" w="16784574">
                  <a:moveTo>
                    <a:pt x="0" y="0"/>
                  </a:moveTo>
                  <a:lnTo>
                    <a:pt x="16784574" y="0"/>
                  </a:lnTo>
                  <a:lnTo>
                    <a:pt x="16784574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74" r="0" b="-127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12779" y="3481563"/>
            <a:ext cx="8115300" cy="2947785"/>
            <a:chOff x="0" y="0"/>
            <a:chExt cx="16784574" cy="609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84574" cy="6096795"/>
            </a:xfrm>
            <a:custGeom>
              <a:avLst/>
              <a:gdLst/>
              <a:ahLst/>
              <a:cxnLst/>
              <a:rect r="r" b="b" t="t" l="l"/>
              <a:pathLst>
                <a:path h="6096795" w="16784574">
                  <a:moveTo>
                    <a:pt x="0" y="0"/>
                  </a:moveTo>
                  <a:lnTo>
                    <a:pt x="16784574" y="0"/>
                  </a:lnTo>
                  <a:lnTo>
                    <a:pt x="16784574" y="6096795"/>
                  </a:lnTo>
                  <a:lnTo>
                    <a:pt x="0" y="6096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55" r="0" b="-385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38232" y="1451149"/>
            <a:ext cx="11552927" cy="149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3"/>
              </a:lnSpc>
            </a:pPr>
            <a:r>
              <a:rPr lang="en-US" sz="488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SHapley Additive exPlanations(SHAP)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95194"/>
            <a:ext cx="8115300" cy="227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0868" indent="-230434" lvl="1">
              <a:lnSpc>
                <a:spcPts val="2561"/>
              </a:lnSpc>
              <a:spcBef>
                <a:spcPct val="0"/>
              </a:spcBef>
              <a:buFont typeface="Arial"/>
              <a:buChar char="•"/>
            </a:pP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SHAP analysis identifies C3-P3, T8-P8, and F3-C3 a</a:t>
            </a: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 the most influential EEG channels contributing to seizure prediction in the DA-GRL model.</a:t>
            </a:r>
          </a:p>
          <a:p>
            <a:pPr algn="just" marL="460868" indent="-230434" lvl="1">
              <a:lnSpc>
                <a:spcPts val="2561"/>
              </a:lnSpc>
              <a:spcBef>
                <a:spcPct val="0"/>
              </a:spcBef>
              <a:buFont typeface="Arial"/>
              <a:buChar char="•"/>
            </a:pP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The SHAP di</a:t>
            </a: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stribution plot shows stable and consistent feature impact across top channels, confirming reliable model interpretabilit</a:t>
            </a:r>
          </a:p>
          <a:p>
            <a:pPr algn="just">
              <a:lnSpc>
                <a:spcPts val="256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13016" y="1207330"/>
            <a:ext cx="1155497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7"/>
              </a:lnSpc>
            </a:pPr>
            <a:r>
              <a:rPr lang="en-US" sz="4627" b="true">
                <a:solidFill>
                  <a:srgbClr val="70809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XAI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2779" y="7271064"/>
            <a:ext cx="8115300" cy="227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0868" indent="-230434" lvl="1">
              <a:lnSpc>
                <a:spcPts val="2561"/>
              </a:lnSpc>
              <a:spcBef>
                <a:spcPct val="0"/>
              </a:spcBef>
              <a:buFont typeface="Arial"/>
              <a:buChar char="•"/>
            </a:pP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The SHAP beeswarm plot highlight</a:t>
            </a: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 how top EEG channels contribute differently across samples, revealing variation in feature influence for seizure detection.</a:t>
            </a:r>
          </a:p>
          <a:p>
            <a:pPr algn="just" marL="460868" indent="-230434" lvl="1">
              <a:lnSpc>
                <a:spcPts val="2561"/>
              </a:lnSpc>
              <a:spcBef>
                <a:spcPct val="0"/>
              </a:spcBef>
              <a:buFont typeface="Arial"/>
              <a:buChar char="•"/>
            </a:pP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The temporal SHAP hea</a:t>
            </a:r>
            <a:r>
              <a:rPr lang="en-US" sz="21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tmap shows when important seizure-related patterns occur over time, helping identify critical moments in EEG signal prediction.</a:t>
            </a:r>
          </a:p>
          <a:p>
            <a:pPr algn="just">
              <a:lnSpc>
                <a:spcPts val="25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40306" y="1773835"/>
            <a:ext cx="9967817" cy="34957"/>
            <a:chOff x="0" y="0"/>
            <a:chExt cx="13290423" cy="466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13277723" cy="33909"/>
            </a:xfrm>
            <a:custGeom>
              <a:avLst/>
              <a:gdLst/>
              <a:ahLst/>
              <a:cxnLst/>
              <a:rect r="r" b="b" t="t" l="l"/>
              <a:pathLst>
                <a:path h="33909" w="13277723">
                  <a:moveTo>
                    <a:pt x="0" y="0"/>
                  </a:moveTo>
                  <a:lnTo>
                    <a:pt x="13277723" y="0"/>
                  </a:lnTo>
                  <a:lnTo>
                    <a:pt x="13277723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2F4F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94742" cy="50927"/>
            </a:xfrm>
            <a:custGeom>
              <a:avLst/>
              <a:gdLst/>
              <a:ahLst/>
              <a:cxnLst/>
              <a:rect r="r" b="b" t="t" l="l"/>
              <a:pathLst>
                <a:path h="50927" w="13294742">
                  <a:moveTo>
                    <a:pt x="8509" y="0"/>
                  </a:moveTo>
                  <a:lnTo>
                    <a:pt x="13286232" y="0"/>
                  </a:lnTo>
                  <a:cubicBezTo>
                    <a:pt x="13290931" y="0"/>
                    <a:pt x="13294742" y="3810"/>
                    <a:pt x="13294742" y="8509"/>
                  </a:cubicBezTo>
                  <a:lnTo>
                    <a:pt x="13294742" y="42418"/>
                  </a:lnTo>
                  <a:cubicBezTo>
                    <a:pt x="13294742" y="47117"/>
                    <a:pt x="13290931" y="50927"/>
                    <a:pt x="13286232" y="50927"/>
                  </a:cubicBezTo>
                  <a:lnTo>
                    <a:pt x="8509" y="50927"/>
                  </a:lnTo>
                  <a:cubicBezTo>
                    <a:pt x="3810" y="50800"/>
                    <a:pt x="0" y="46990"/>
                    <a:pt x="0" y="4241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418"/>
                  </a:lnTo>
                  <a:lnTo>
                    <a:pt x="8509" y="42418"/>
                  </a:lnTo>
                  <a:lnTo>
                    <a:pt x="8509" y="33909"/>
                  </a:lnTo>
                  <a:lnTo>
                    <a:pt x="13286232" y="33909"/>
                  </a:lnTo>
                  <a:lnTo>
                    <a:pt x="13286232" y="42418"/>
                  </a:lnTo>
                  <a:lnTo>
                    <a:pt x="13277723" y="42418"/>
                  </a:lnTo>
                  <a:lnTo>
                    <a:pt x="13277723" y="8509"/>
                  </a:lnTo>
                  <a:lnTo>
                    <a:pt x="13286232" y="8509"/>
                  </a:lnTo>
                  <a:lnTo>
                    <a:pt x="13286232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400376" y="3802489"/>
            <a:ext cx="8238515" cy="5455811"/>
            <a:chOff x="0" y="0"/>
            <a:chExt cx="18026906" cy="1193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026906" cy="11938000"/>
            </a:xfrm>
            <a:custGeom>
              <a:avLst/>
              <a:gdLst/>
              <a:ahLst/>
              <a:cxnLst/>
              <a:rect r="r" b="b" t="t" l="l"/>
              <a:pathLst>
                <a:path h="11938000" w="18026906">
                  <a:moveTo>
                    <a:pt x="0" y="0"/>
                  </a:moveTo>
                  <a:lnTo>
                    <a:pt x="18026906" y="0"/>
                  </a:lnTo>
                  <a:lnTo>
                    <a:pt x="18026906" y="11938000"/>
                  </a:lnTo>
                  <a:lnTo>
                    <a:pt x="0" y="11938000"/>
                  </a:lnTo>
                  <a:close/>
                </a:path>
              </a:pathLst>
            </a:custGeom>
            <a:blipFill>
              <a:blip r:embed="rId2"/>
              <a:stretch>
                <a:fillRect l="0" t="-303" r="0" b="-30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927828" y="472678"/>
            <a:ext cx="9958292" cy="110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2"/>
              </a:lnSpc>
            </a:pPr>
            <a:r>
              <a:rPr lang="en-US" sz="710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Future Implementation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4856" y="1970717"/>
            <a:ext cx="8244070" cy="8647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3"/>
              </a:lnSpc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AI-powered seizure prediction dashboard designed for hospitals and research environments. It integrates advanced deep learning models, including GRL-based domain adaptation, into a clean and scalable web interface.</a:t>
            </a:r>
          </a:p>
          <a:p>
            <a:pPr algn="just">
              <a:lnSpc>
                <a:spcPts val="2853"/>
              </a:lnSpc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🔹 Core Functionalities</a:t>
            </a:r>
          </a:p>
          <a:p>
            <a:pPr algn="just">
              <a:lnSpc>
                <a:spcPts val="2853"/>
              </a:lnSpc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Seizure Risk Forecast</a:t>
            </a:r>
          </a:p>
          <a:p>
            <a:pPr algn="just" marL="440019" indent="-220009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Real-time seizure probability display</a:t>
            </a:r>
          </a:p>
          <a:p>
            <a:pPr algn="just" marL="440020" indent="-220010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Time-to-onset estimation</a:t>
            </a:r>
          </a:p>
          <a:p>
            <a:pPr algn="just" marL="440020" indent="-220010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High-risk alerts for early intervention</a:t>
            </a:r>
          </a:p>
          <a:p>
            <a:pPr algn="just">
              <a:lnSpc>
                <a:spcPts val="2853"/>
              </a:lnSpc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Performance Summary</a:t>
            </a:r>
          </a:p>
          <a:p>
            <a:pPr algn="just" marL="440019" indent="-220009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Sensitivity: 98.5%</a:t>
            </a:r>
          </a:p>
          <a:p>
            <a:pPr algn="just" marL="440019" indent="-220009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False Alarm Rate: 1.9%</a:t>
            </a:r>
          </a:p>
          <a:p>
            <a:pPr algn="just" marL="440019" indent="-220009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AUC close to 0.99</a:t>
            </a:r>
          </a:p>
          <a:p>
            <a:pPr algn="just" marL="440019" indent="-220009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Confusion matrix and ROC tracking</a:t>
            </a:r>
          </a:p>
          <a:p>
            <a:pPr algn="just">
              <a:lnSpc>
                <a:spcPts val="2853"/>
              </a:lnSpc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Explainable AI Module</a:t>
            </a:r>
          </a:p>
          <a:p>
            <a:pPr algn="just" marL="440019" indent="-220009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SHAP heatmaps for channel-wise importance</a:t>
            </a:r>
          </a:p>
          <a:p>
            <a:pPr algn="just" marL="440019" indent="-220009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Temporal pattern visualization</a:t>
            </a:r>
          </a:p>
          <a:p>
            <a:pPr algn="just" marL="440019" indent="-220009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Transparent decision support for clinicians</a:t>
            </a:r>
          </a:p>
          <a:p>
            <a:pPr algn="just">
              <a:lnSpc>
                <a:spcPts val="2853"/>
              </a:lnSpc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Model Comparison</a:t>
            </a:r>
          </a:p>
          <a:p>
            <a:pPr algn="just" marL="440019" indent="-220009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CNN-LSTM</a:t>
            </a:r>
          </a:p>
          <a:p>
            <a:pPr algn="just" marL="440019" indent="-220009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Spiking Convolutional Transformer (SCT)</a:t>
            </a:r>
          </a:p>
          <a:p>
            <a:pPr algn="just" marL="440019" indent="-220009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GRL (Domain Adaptation)</a:t>
            </a:r>
          </a:p>
          <a:p>
            <a:pPr algn="just" marL="440020" indent="-220010" lvl="1">
              <a:lnSpc>
                <a:spcPts val="2853"/>
              </a:lnSpc>
              <a:buFont typeface="Arial"/>
              <a:buChar char="•"/>
            </a:pPr>
            <a:r>
              <a:rPr lang="en-US" sz="203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DA-SCT</a:t>
            </a:r>
          </a:p>
          <a:p>
            <a:pPr algn="just" marL="556531" indent="-139133" lvl="3">
              <a:lnSpc>
                <a:spcPts val="285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13016" y="1114425"/>
            <a:ext cx="1155497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7"/>
              </a:lnSpc>
            </a:pPr>
            <a:r>
              <a:rPr lang="en-US" sz="4627" b="true">
                <a:solidFill>
                  <a:srgbClr val="70809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XAI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1988" y="1379725"/>
            <a:ext cx="5023876" cy="196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Project Timeline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9062" y="5870867"/>
            <a:ext cx="4881305" cy="96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Collection &amp; Preprocessing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0882" y="2064720"/>
            <a:ext cx="4285031" cy="50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Baseline Model Training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5838" y="5443538"/>
            <a:ext cx="17616868" cy="28575"/>
            <a:chOff x="0" y="0"/>
            <a:chExt cx="23489158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23476458" cy="25400"/>
            </a:xfrm>
            <a:custGeom>
              <a:avLst/>
              <a:gdLst/>
              <a:ahLst/>
              <a:cxnLst/>
              <a:rect r="r" b="b" t="t" l="l"/>
              <a:pathLst>
                <a:path h="25400" w="23476458">
                  <a:moveTo>
                    <a:pt x="0" y="0"/>
                  </a:moveTo>
                  <a:lnTo>
                    <a:pt x="23476458" y="0"/>
                  </a:lnTo>
                  <a:lnTo>
                    <a:pt x="2347645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336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93476" cy="42418"/>
            </a:xfrm>
            <a:custGeom>
              <a:avLst/>
              <a:gdLst/>
              <a:ahLst/>
              <a:cxnLst/>
              <a:rect r="r" b="b" t="t" l="l"/>
              <a:pathLst>
                <a:path h="42418" w="23493476">
                  <a:moveTo>
                    <a:pt x="8509" y="0"/>
                  </a:moveTo>
                  <a:lnTo>
                    <a:pt x="23484967" y="0"/>
                  </a:lnTo>
                  <a:cubicBezTo>
                    <a:pt x="23489665" y="0"/>
                    <a:pt x="23493476" y="3810"/>
                    <a:pt x="23493476" y="8509"/>
                  </a:cubicBezTo>
                  <a:lnTo>
                    <a:pt x="23493476" y="33909"/>
                  </a:lnTo>
                  <a:cubicBezTo>
                    <a:pt x="23493476" y="38608"/>
                    <a:pt x="23489665" y="42418"/>
                    <a:pt x="23484967" y="42418"/>
                  </a:cubicBezTo>
                  <a:lnTo>
                    <a:pt x="8509" y="42418"/>
                  </a:lnTo>
                  <a:cubicBezTo>
                    <a:pt x="3810" y="42291"/>
                    <a:pt x="0" y="38481"/>
                    <a:pt x="0" y="33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3909"/>
                  </a:lnTo>
                  <a:lnTo>
                    <a:pt x="8509" y="33909"/>
                  </a:lnTo>
                  <a:lnTo>
                    <a:pt x="8509" y="25400"/>
                  </a:lnTo>
                  <a:lnTo>
                    <a:pt x="23484967" y="25400"/>
                  </a:lnTo>
                  <a:lnTo>
                    <a:pt x="23484967" y="33909"/>
                  </a:lnTo>
                  <a:lnTo>
                    <a:pt x="23476457" y="33909"/>
                  </a:lnTo>
                  <a:lnTo>
                    <a:pt x="23476457" y="8509"/>
                  </a:lnTo>
                  <a:lnTo>
                    <a:pt x="23484967" y="8509"/>
                  </a:lnTo>
                  <a:lnTo>
                    <a:pt x="2348496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61988" y="5291138"/>
            <a:ext cx="333375" cy="333375"/>
          </a:xfrm>
          <a:custGeom>
            <a:avLst/>
            <a:gdLst/>
            <a:ahLst/>
            <a:cxnLst/>
            <a:rect r="r" b="b" t="t" l="l"/>
            <a:pathLst>
              <a:path h="333375" w="333375">
                <a:moveTo>
                  <a:pt x="0" y="0"/>
                </a:moveTo>
                <a:lnTo>
                  <a:pt x="333374" y="0"/>
                </a:lnTo>
                <a:lnTo>
                  <a:pt x="333374" y="333374"/>
                </a:lnTo>
                <a:lnTo>
                  <a:pt x="0" y="333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20882" y="5300662"/>
            <a:ext cx="333375" cy="333375"/>
          </a:xfrm>
          <a:custGeom>
            <a:avLst/>
            <a:gdLst/>
            <a:ahLst/>
            <a:cxnLst/>
            <a:rect r="r" b="b" t="t" l="l"/>
            <a:pathLst>
              <a:path h="333375" w="333375">
                <a:moveTo>
                  <a:pt x="0" y="0"/>
                </a:moveTo>
                <a:lnTo>
                  <a:pt x="333375" y="0"/>
                </a:lnTo>
                <a:lnTo>
                  <a:pt x="333375" y="333376"/>
                </a:lnTo>
                <a:lnTo>
                  <a:pt x="0" y="333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52470" y="5300662"/>
            <a:ext cx="333375" cy="333375"/>
          </a:xfrm>
          <a:custGeom>
            <a:avLst/>
            <a:gdLst/>
            <a:ahLst/>
            <a:cxnLst/>
            <a:rect r="r" b="b" t="t" l="l"/>
            <a:pathLst>
              <a:path h="333375" w="333375">
                <a:moveTo>
                  <a:pt x="0" y="0"/>
                </a:moveTo>
                <a:lnTo>
                  <a:pt x="333375" y="0"/>
                </a:lnTo>
                <a:lnTo>
                  <a:pt x="333375" y="333376"/>
                </a:lnTo>
                <a:lnTo>
                  <a:pt x="0" y="333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066596" y="5976699"/>
            <a:ext cx="5105400" cy="50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XAI Explainability Integration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7623" y="6931714"/>
            <a:ext cx="4420819" cy="174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EEG datasets collected, cleaned, and baseline model prepared.</a:t>
            </a:r>
          </a:p>
          <a:p>
            <a:pPr algn="l">
              <a:lnSpc>
                <a:spcPts val="4200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22.01.2026 – 0th Review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87569" y="2739719"/>
            <a:ext cx="4420819" cy="1877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RandomForest baseline model trained and initial performance evaluated.</a:t>
            </a:r>
          </a:p>
          <a:p>
            <a:pPr algn="l">
              <a:lnSpc>
                <a:spcPts val="3500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14.02.2026 – I Review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66596" y="6775542"/>
            <a:ext cx="5468998" cy="12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SHAP and LIME applied to explain model predictions and validate relevance.</a:t>
            </a:r>
          </a:p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04.04.2026 – II Review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882438" y="5300662"/>
            <a:ext cx="333375" cy="333375"/>
          </a:xfrm>
          <a:custGeom>
            <a:avLst/>
            <a:gdLst/>
            <a:ahLst/>
            <a:cxnLst/>
            <a:rect r="r" b="b" t="t" l="l"/>
            <a:pathLst>
              <a:path h="333375" w="333375">
                <a:moveTo>
                  <a:pt x="0" y="0"/>
                </a:moveTo>
                <a:lnTo>
                  <a:pt x="333374" y="0"/>
                </a:lnTo>
                <a:lnTo>
                  <a:pt x="333374" y="333376"/>
                </a:lnTo>
                <a:lnTo>
                  <a:pt x="0" y="333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512405" y="5300662"/>
            <a:ext cx="333375" cy="333375"/>
          </a:xfrm>
          <a:custGeom>
            <a:avLst/>
            <a:gdLst/>
            <a:ahLst/>
            <a:cxnLst/>
            <a:rect r="r" b="b" t="t" l="l"/>
            <a:pathLst>
              <a:path h="333375" w="333375">
                <a:moveTo>
                  <a:pt x="0" y="0"/>
                </a:moveTo>
                <a:lnTo>
                  <a:pt x="333375" y="0"/>
                </a:lnTo>
                <a:lnTo>
                  <a:pt x="333375" y="333376"/>
                </a:lnTo>
                <a:lnTo>
                  <a:pt x="0" y="333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627044" y="3692757"/>
            <a:ext cx="5293995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SCT model built and compared with baseline for improved prediction.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21.04.2026 – III Review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44893" y="7110784"/>
            <a:ext cx="4237939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report and presentation finalized and submitted.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29.04.2026 – Project Submission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44893" y="5853627"/>
            <a:ext cx="4237939" cy="97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Final Documentation &amp; Submission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27044" y="2779890"/>
            <a:ext cx="4298480" cy="550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SCT Model Development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98947" y="4575572"/>
            <a:ext cx="6327096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76"/>
              </a:lnSpc>
            </a:pPr>
            <a:r>
              <a:rPr lang="en-US" sz="9063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518706" y="530457"/>
            <a:ext cx="6119146" cy="3699319"/>
            <a:chOff x="0" y="0"/>
            <a:chExt cx="8158861" cy="49324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58861" cy="4932426"/>
            </a:xfrm>
            <a:custGeom>
              <a:avLst/>
              <a:gdLst/>
              <a:ahLst/>
              <a:cxnLst/>
              <a:rect r="r" b="b" t="t" l="l"/>
              <a:pathLst>
                <a:path h="4932426" w="8158861">
                  <a:moveTo>
                    <a:pt x="0" y="0"/>
                  </a:moveTo>
                  <a:lnTo>
                    <a:pt x="8158861" y="0"/>
                  </a:lnTo>
                  <a:lnTo>
                    <a:pt x="8158861" y="4932426"/>
                  </a:lnTo>
                  <a:lnTo>
                    <a:pt x="0" y="4932426"/>
                  </a:lnTo>
                  <a:close/>
                </a:path>
              </a:pathLst>
            </a:custGeom>
            <a:blipFill>
              <a:blip r:embed="rId2"/>
              <a:stretch>
                <a:fillRect l="0" t="-3463" r="0" b="-346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429875" y="0"/>
            <a:ext cx="7858125" cy="10287000"/>
            <a:chOff x="0" y="0"/>
            <a:chExt cx="104775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775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234" r="0" b="-234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13016" y="1417787"/>
            <a:ext cx="1155497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7"/>
              </a:lnSpc>
            </a:pPr>
            <a:r>
              <a:rPr lang="en-US" sz="4627" b="true">
                <a:solidFill>
                  <a:srgbClr val="70809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XAI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DAHBdjyOJvk</dc:identifier>
  <dcterms:modified xsi:type="dcterms:W3CDTF">2011-08-01T06:04:30Z</dcterms:modified>
  <cp:revision>1</cp:revision>
  <dc:title>Arun_Pandian.pptx</dc:title>
</cp:coreProperties>
</file>